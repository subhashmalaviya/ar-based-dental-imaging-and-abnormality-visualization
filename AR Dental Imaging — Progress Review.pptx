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19.jpeg" ContentType="image/jpeg"/>
  <Override PartName="/ppt/media/image14.png" ContentType="image/png"/>
  <Override PartName="/ppt/media/image5.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2.png" ContentType="image/png"/>
  <Override PartName="/ppt/media/image17.png" ContentType="image/png"/>
  <Override PartName="/ppt/media/image8.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13F6614-74B4-4484-AE2F-8934AB5F5CD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85800" y="1143000"/>
            <a:ext cx="5484600" cy="3084480"/>
          </a:xfrm>
          <a:prstGeom prst="rect">
            <a:avLst/>
          </a:prstGeom>
          <a:ln w="0">
            <a:noFill/>
          </a:ln>
        </p:spPr>
      </p:sp>
      <p:sp>
        <p:nvSpPr>
          <p:cNvPr id="18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Good [morning/afternoon]. This is our mid-semester progress review for COD492 — AR-Based Dental Imaging and Abnormality Visualization. The project is jointly by Subhash Malaviya and Nishant Jotriwal, under Prof. Subodh Kumar. In short: we are building a live AR overlay that detects, tracks, and measures every visible tooth on a phone camera, entirely on-device — no cloud, no X-ray required.</a:t>
            </a:r>
            <a:endParaRPr b="0" lang="en-US" sz="2000" spc="-1" strike="noStrike">
              <a:solidFill>
                <a:srgbClr val="000000"/>
              </a:solidFill>
              <a:latin typeface="Arial"/>
            </a:endParaRPr>
          </a:p>
        </p:txBody>
      </p:sp>
      <p:sp>
        <p:nvSpPr>
          <p:cNvPr id="188" name="PlaceHolder 3"/>
          <p:cNvSpPr>
            <a:spLocks noGrp="1"/>
          </p:cNvSpPr>
          <p:nvPr>
            <p:ph type="sldNum" idx="4"/>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E227F28-AD85-49D7-83BA-2C2FFFE92FA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685800" y="1143000"/>
            <a:ext cx="5484600" cy="3084480"/>
          </a:xfrm>
          <a:prstGeom prst="rect">
            <a:avLst/>
          </a:prstGeom>
          <a:ln w="0">
            <a:noFill/>
          </a:ln>
        </p:spPr>
      </p:sp>
      <p:sp>
        <p:nvSpPr>
          <p:cNvPr id="19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Today there is no way to inspect your own teeth at home tooth-by-tooth without a clinic visit. To visualize a dental abnormality like a cavity or crack in AR, you first need to know which tooth is which and how large it is — that is the hard part we are solving. The privacy constraint is strict: dental imagery is sensitive, so the camera feed must never leave the device. Everything runs locally.</a:t>
            </a:r>
            <a:endParaRPr b="0" lang="en-US" sz="2000" spc="-1" strike="noStrike">
              <a:solidFill>
                <a:srgbClr val="000000"/>
              </a:solidFill>
              <a:latin typeface="Arial"/>
            </a:endParaRPr>
          </a:p>
        </p:txBody>
      </p:sp>
      <p:sp>
        <p:nvSpPr>
          <p:cNvPr id="191" name="PlaceHolder 3"/>
          <p:cNvSpPr>
            <a:spLocks noGrp="1"/>
          </p:cNvSpPr>
          <p:nvPr>
            <p:ph type="sldNum" idx="5"/>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7B3ACCD-6085-420C-B40F-07E0845329C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85800" y="1143000"/>
            <a:ext cx="5484600" cy="3084480"/>
          </a:xfrm>
          <a:prstGeom prst="rect">
            <a:avLst/>
          </a:prstGeom>
          <a:ln w="0">
            <a:noFill/>
          </a:ln>
        </p:spPr>
      </p:sp>
      <p:sp>
        <p:nvSpPr>
          <p:cNvPr id="19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Before tackling teeth, we validated the core AR technique on a simpler object — a cup. We fit an ellipse to the rim to get a full 6-DoF pose without any markers or depth sensor. We then UV-mapped a logo onto the cup's 3D surface so the overlay stays locked to the object, not to the screen. This same pose-from-geometry idea carries forward to the mouth in Steps 2 and 3.</a:t>
            </a:r>
            <a:endParaRPr b="0" lang="en-US" sz="2000" spc="-1" strike="noStrike">
              <a:solidFill>
                <a:srgbClr val="000000"/>
              </a:solidFill>
              <a:latin typeface="Arial"/>
            </a:endParaRPr>
          </a:p>
        </p:txBody>
      </p:sp>
      <p:sp>
        <p:nvSpPr>
          <p:cNvPr id="194" name="PlaceHolder 3"/>
          <p:cNvSpPr>
            <a:spLocks noGrp="1"/>
          </p:cNvSpPr>
          <p:nvPr>
            <p:ph type="sldNum" idx="6"/>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76E2071-5DFF-470B-8664-DE9403B42D9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85800" y="1143000"/>
            <a:ext cx="5484600" cy="3084480"/>
          </a:xfrm>
          <a:prstGeom prst="rect">
            <a:avLst/>
          </a:prstGeom>
          <a:ln w="0">
            <a:noFill/>
          </a:ln>
        </p:spPr>
      </p:sp>
      <p:sp>
        <p:nvSpPr>
          <p:cNvPr id="19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Here are the results — the logo holds position across seven very different viewing angles. Before tooth detection, we also needed a stable coordinate frame for the mouth. We use MediaPipe Face Landmarker, which gives us 478 3D face points on-device. From the lip landmarks we build a roll-corrected frame that survives head movement and distance changes. Every downstream stage — the crop, the detector, the tracker, AR placement — anchors to that single frame, just as the cup logo anchored to the cup's UV space.</a:t>
            </a:r>
            <a:endParaRPr b="0" lang="en-US" sz="2000" spc="-1" strike="noStrike">
              <a:solidFill>
                <a:srgbClr val="000000"/>
              </a:solidFill>
              <a:latin typeface="Arial"/>
            </a:endParaRPr>
          </a:p>
        </p:txBody>
      </p:sp>
      <p:sp>
        <p:nvSpPr>
          <p:cNvPr id="197" name="PlaceHolder 3"/>
          <p:cNvSpPr>
            <a:spLocks noGrp="1"/>
          </p:cNvSpPr>
          <p:nvPr>
            <p:ph type="sldNum" idx="7"/>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44AFDC5-4545-493C-BF7D-F2DCA6526B1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685800" y="1143000"/>
            <a:ext cx="5484600" cy="3084480"/>
          </a:xfrm>
          <a:prstGeom prst="rect">
            <a:avLst/>
          </a:prstGeom>
          <a:ln w="0">
            <a:noFill/>
          </a:ln>
        </p:spPr>
      </p:sp>
      <p:sp>
        <p:nvSpPr>
          <p:cNvPr id="19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For detection we trained ToothNet-lite, a tiny U-Net with 125K parameters that runs at 160×120 on the rectified mouth crop. The network outputs three maps simultaneously: a teeth probability mask, an interdental boundary map, and a center heatmap. We seed a watershed from the center peaks to split touching teeth — the same geodesic algorithm used in medical cell segmentation. The whole inference costs roughly 80M multiply-adds per crop, fast enough for real-time use.</a:t>
            </a:r>
            <a:endParaRPr b="0" lang="en-US" sz="2000" spc="-1" strike="noStrike">
              <a:solidFill>
                <a:srgbClr val="000000"/>
              </a:solidFill>
              <a:latin typeface="Arial"/>
            </a:endParaRPr>
          </a:p>
        </p:txBody>
      </p:sp>
      <p:sp>
        <p:nvSpPr>
          <p:cNvPr id="200" name="PlaceHolder 3"/>
          <p:cNvSpPr>
            <a:spLocks noGrp="1"/>
          </p:cNvSpPr>
          <p:nvPr>
            <p:ph type="sldNum" idx="8"/>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DBB9FC6-E0D6-4F62-9D43-CDEE3113346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685800" y="1143000"/>
            <a:ext cx="5484600" cy="3084480"/>
          </a:xfrm>
          <a:prstGeom prst="rect">
            <a:avLst/>
          </a:prstGeom>
          <a:ln w="0">
            <a:noFill/>
          </a:ln>
        </p:spPr>
      </p:sp>
      <p:sp>
        <p:nvSpPr>
          <p:cNvPr id="20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Detection gives us polygons per frame, but we also need to know it is the same tooth frame to frame. We use a Hungarian-algorithm assignment with a ByteTrack two-stage fallback so low-confidence teeth are not dropped. One-Euro filtering removes jitter without adding lag. For tooth identity, we count positions outward from the arch midline and use the gap size to infer skipped teeth. That tells us incisor, canine, premolar, or molar — and gives us the standard FDI tooth number.</a:t>
            </a:r>
            <a:endParaRPr b="0" lang="en-US" sz="2000" spc="-1" strike="noStrike">
              <a:solidFill>
                <a:srgbClr val="000000"/>
              </a:solidFill>
              <a:latin typeface="Arial"/>
            </a:endParaRPr>
          </a:p>
        </p:txBody>
      </p:sp>
      <p:sp>
        <p:nvSpPr>
          <p:cNvPr id="203" name="PlaceHolder 3"/>
          <p:cNvSpPr>
            <a:spLocks noGrp="1"/>
          </p:cNvSpPr>
          <p:nvPr>
            <p:ph type="sldNum" idx="9"/>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9048BDA-3370-45C9-B1DA-FBEF2C98C10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sldImg"/>
          </p:nvPr>
        </p:nvSpPr>
        <p:spPr>
          <a:xfrm>
            <a:off x="685800" y="1143000"/>
            <a:ext cx="5484600" cy="3084480"/>
          </a:xfrm>
          <a:prstGeom prst="rect">
            <a:avLst/>
          </a:prstGeom>
          <a:ln w="0">
            <a:noFill/>
          </a:ln>
        </p:spPr>
      </p:sp>
      <p:sp>
        <p:nvSpPr>
          <p:cNvPr id="205"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slide shows the full debug view running live. On the left is the raw camera stream with colored AR contours overlaid on each tooth — 14 teeth tracked simultaneously at 30.4 FPS. On the right is the detector's internal view: the rectified 160×120 crop and the three predicted channel maps — cyan for tooth probability, magenta for interdental boundaries, yellow for center peaks, and white contours for the watershed result. Tracking stability is 87% with 0.89 average confidence. The decode step is only 2.7 ms — all on-device.</a:t>
            </a:r>
            <a:endParaRPr b="0" lang="en-US" sz="2000" spc="-1" strike="noStrike">
              <a:solidFill>
                <a:srgbClr val="000000"/>
              </a:solidFill>
              <a:latin typeface="Arial"/>
            </a:endParaRPr>
          </a:p>
        </p:txBody>
      </p:sp>
      <p:sp>
        <p:nvSpPr>
          <p:cNvPr id="206" name="PlaceHolder 3"/>
          <p:cNvSpPr>
            <a:spLocks noGrp="1"/>
          </p:cNvSpPr>
          <p:nvPr>
            <p:ph type="sldNum" idx="10"/>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50CCC0F-D08B-406D-BCA0-B9D6F0C9622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sldImg"/>
          </p:nvPr>
        </p:nvSpPr>
        <p:spPr>
          <a:xfrm>
            <a:off x="685800" y="1143000"/>
            <a:ext cx="5484600" cy="3084480"/>
          </a:xfrm>
          <a:prstGeom prst="rect">
            <a:avLst/>
          </a:prstGeom>
          <a:ln w="0">
            <a:noFill/>
          </a:ln>
        </p:spPr>
      </p:sp>
      <p:sp>
        <p:nvSpPr>
          <p:cNvPr id="20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After detection and tracking, we built a personal tooth-size reference from just a few calibration photos. Six photos at different angles gave us 69 tooth measurements across 9 distinct tooth types. That reference is stored locally per user. During a live session the camera output is compared frame by frame against that reference, giving an on-the-fly size consistency check without needing any external ruler.</a:t>
            </a:r>
            <a:endParaRPr b="0" lang="en-US" sz="2000" spc="-1" strike="noStrike">
              <a:solidFill>
                <a:srgbClr val="000000"/>
              </a:solidFill>
              <a:latin typeface="Arial"/>
            </a:endParaRPr>
          </a:p>
        </p:txBody>
      </p:sp>
      <p:sp>
        <p:nvSpPr>
          <p:cNvPr id="209" name="PlaceHolder 3"/>
          <p:cNvSpPr>
            <a:spLocks noGrp="1"/>
          </p:cNvSpPr>
          <p:nvPr>
            <p:ph type="sldNum" idx="11"/>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B9160C2-E35F-4CA0-BBF8-CA124DFFB36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685800" y="1143000"/>
            <a:ext cx="5484600" cy="3084480"/>
          </a:xfrm>
          <a:prstGeom prst="rect">
            <a:avLst/>
          </a:prstGeom>
          <a:ln w="0">
            <a:noFill/>
          </a:ln>
        </p:spPr>
      </p:sp>
      <p:sp>
        <p:nvSpPr>
          <p:cNvPr id="21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We validated the size estimates against manually measured ground truth. Widths agree within about 1 mm for most tooth types — that is clinically acceptable for an early screening tool. Heights are less accurate on some teeth because the close-up crop cuts off incisor tips. We are not hiding this — it is a known limitation that the next training iteration addresses.</a:t>
            </a:r>
            <a:endParaRPr b="0" lang="en-US" sz="2000" spc="-1" strike="noStrike">
              <a:solidFill>
                <a:srgbClr val="000000"/>
              </a:solidFill>
              <a:latin typeface="Arial"/>
            </a:endParaRPr>
          </a:p>
        </p:txBody>
      </p:sp>
      <p:sp>
        <p:nvSpPr>
          <p:cNvPr id="212" name="PlaceHolder 3"/>
          <p:cNvSpPr>
            <a:spLocks noGrp="1"/>
          </p:cNvSpPr>
          <p:nvPr>
            <p:ph type="sldNum" idx="12"/>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D0D38EF-37DC-4D0A-8133-DF898D32FB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685800" y="1143000"/>
            <a:ext cx="5484600" cy="3084480"/>
          </a:xfrm>
          <a:prstGeom prst="rect">
            <a:avLst/>
          </a:prstGeom>
          <a:ln w="0">
            <a:noFill/>
          </a:ln>
        </p:spPr>
      </p:sp>
      <p:sp>
        <p:nvSpPr>
          <p:cNvPr id="21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By the end of semester we will deliver: 1) real-time on-device detection and tracking across viewing angles; 2) the personal size reference with live comparison; 3) a fully documented accuracy evaluation with precision, recall, F1, and IoU numbers; 4) an interface that maps any external per-tooth result — such as a cavity flag from a classifier — onto the tracked tooth ID in AR. Nothing in this system requires cloud connectivity or shares any image off the device.</a:t>
            </a:r>
            <a:endParaRPr b="0" lang="en-US" sz="2000" spc="-1" strike="noStrike">
              <a:solidFill>
                <a:srgbClr val="000000"/>
              </a:solidFill>
              <a:latin typeface="Arial"/>
            </a:endParaRPr>
          </a:p>
        </p:txBody>
      </p:sp>
      <p:sp>
        <p:nvSpPr>
          <p:cNvPr id="215" name="PlaceHolder 3"/>
          <p:cNvSpPr>
            <a:spLocks noGrp="1"/>
          </p:cNvSpPr>
          <p:nvPr>
            <p:ph type="sldNum" idx="13"/>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98AB2E5-E9E1-48EB-BC10-A4C2B2C97C9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685800" y="1143000"/>
            <a:ext cx="5484600" cy="3084480"/>
          </a:xfrm>
          <a:prstGeom prst="rect">
            <a:avLst/>
          </a:prstGeom>
          <a:ln w="0">
            <a:noFill/>
          </a:ln>
        </p:spPr>
      </p:sp>
      <p:sp>
        <p:nvSpPr>
          <p:cNvPr id="21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remaining work has five steps. First, close the molar and premolar detection gap by applying lessons from the close-up calibration sweep to full-video inference. Second, validate on physical phone hardware — all current numbers are from desktop. Third, collect more annotated recordings from this exact real-world setup to fine-tune the model. Fourth, prototype the abnormality visualization interface — mapping a per-tooth result onto a tracked ID in AR. Fifth, finalize documentation, run the evaluation, and do user testing. Thank you.</a:t>
            </a:r>
            <a:endParaRPr b="0" lang="en-US" sz="2000" spc="-1" strike="noStrike">
              <a:solidFill>
                <a:srgbClr val="000000"/>
              </a:solidFill>
              <a:latin typeface="Arial"/>
            </a:endParaRPr>
          </a:p>
        </p:txBody>
      </p:sp>
      <p:sp>
        <p:nvSpPr>
          <p:cNvPr id="218" name="PlaceHolder 3"/>
          <p:cNvSpPr>
            <a:spLocks noGrp="1"/>
          </p:cNvSpPr>
          <p:nvPr>
            <p:ph type="sldNum" idx="14"/>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637CFA1-8D8E-4534-8234-E5EB777078D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a:t>
            </a:r>
            <a:r>
              <a:rPr b="0" lang="en-US" sz="4400" spc="-1" strike="noStrike">
                <a:solidFill>
                  <a:srgbClr val="000000"/>
                </a:solidFill>
                <a:latin typeface="Arial"/>
              </a:rPr>
              <a:t>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slideLayout" Target="../slideLayouts/slideLayout1.xml"/><Relationship Id="rId6"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slideLayout" Target="../slideLayouts/slideLayout1.xml"/><Relationship Id="rId8"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jpeg"/><Relationship Id="rId5" Type="http://schemas.openxmlformats.org/officeDocument/2006/relationships/slideLayout" Target="../slideLayouts/slideLayout1.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0.png"/><Relationship Id="rId3" Type="http://schemas.openxmlformats.org/officeDocument/2006/relationships/image" Target="../media/image20.png"/><Relationship Id="rId4" Type="http://schemas.openxmlformats.org/officeDocument/2006/relationships/image" Target="../media/image20.png"/><Relationship Id="rId5" Type="http://schemas.openxmlformats.org/officeDocument/2006/relationships/image" Target="../media/image20.png"/><Relationship Id="rId6" Type="http://schemas.openxmlformats.org/officeDocument/2006/relationships/image" Target="../media/image20.png"/><Relationship Id="rId7" Type="http://schemas.openxmlformats.org/officeDocument/2006/relationships/slideLayout" Target="../slideLayouts/slideLayout1.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c33"/>
        </a:solidFill>
      </p:bgPr>
    </p:bg>
    <p:spTree>
      <p:nvGrpSpPr>
        <p:cNvPr id="1" name=""/>
        <p:cNvGrpSpPr/>
        <p:nvPr/>
      </p:nvGrpSpPr>
      <p:grpSpPr>
        <a:xfrm>
          <a:off x="0" y="0"/>
          <a:ext cx="0" cy="0"/>
          <a:chOff x="0" y="0"/>
          <a:chExt cx="0" cy="0"/>
        </a:xfrm>
      </p:grpSpPr>
      <p:sp>
        <p:nvSpPr>
          <p:cNvPr id="8" name="Shape 0"/>
          <p:cNvSpPr/>
          <p:nvPr/>
        </p:nvSpPr>
        <p:spPr>
          <a:xfrm>
            <a:off x="0" y="0"/>
            <a:ext cx="12190320" cy="6856200"/>
          </a:xfrm>
          <a:prstGeom prst="rect">
            <a:avLst/>
          </a:prstGeom>
          <a:gradFill rotWithShape="0">
            <a:gsLst>
              <a:gs pos="0">
                <a:srgbClr val="101c33"/>
              </a:gs>
              <a:gs pos="100000">
                <a:srgbClr val="0c1728"/>
              </a:gs>
            </a:gsLst>
            <a:lin ang="4200000"/>
          </a:gra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 name="Text 1"/>
          <p:cNvSpPr/>
          <p:nvPr/>
        </p:nvSpPr>
        <p:spPr>
          <a:xfrm>
            <a:off x="812880" y="6238080"/>
            <a:ext cx="243288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bfd8d5"/>
                </a:solidFill>
                <a:latin typeface="Arial"/>
                <a:ea typeface="Arial"/>
              </a:rPr>
              <a:t>Indian Institute of Technology Delhi</a:t>
            </a:r>
            <a:endParaRPr b="0" lang="en-US" sz="1200" spc="-1" strike="noStrike">
              <a:solidFill>
                <a:srgbClr val="ffffff"/>
              </a:solidFill>
              <a:latin typeface="Arial"/>
            </a:endParaRPr>
          </a:p>
        </p:txBody>
      </p:sp>
      <p:sp>
        <p:nvSpPr>
          <p:cNvPr id="10" name="Text 2"/>
          <p:cNvSpPr/>
          <p:nvPr/>
        </p:nvSpPr>
        <p:spPr>
          <a:xfrm>
            <a:off x="812880" y="1873080"/>
            <a:ext cx="108817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86" strike="noStrike">
                <a:solidFill>
                  <a:srgbClr val="5fd1c6"/>
                </a:solidFill>
                <a:latin typeface="Arial"/>
                <a:ea typeface="Arial"/>
              </a:rPr>
              <a:t>COD492 · B.TECH PROJECT PROGRESS REVIEW</a:t>
            </a:r>
            <a:endParaRPr b="0" lang="en-US" sz="1400" spc="-1" strike="noStrike">
              <a:solidFill>
                <a:srgbClr val="ffffff"/>
              </a:solidFill>
              <a:latin typeface="Arial"/>
            </a:endParaRPr>
          </a:p>
        </p:txBody>
      </p:sp>
      <p:sp>
        <p:nvSpPr>
          <p:cNvPr id="11" name="Text 3"/>
          <p:cNvSpPr/>
          <p:nvPr/>
        </p:nvSpPr>
        <p:spPr>
          <a:xfrm>
            <a:off x="812880" y="2374920"/>
            <a:ext cx="10135800" cy="2202840"/>
          </a:xfrm>
          <a:prstGeom prst="rect">
            <a:avLst/>
          </a:prstGeom>
          <a:noFill/>
          <a:ln w="0">
            <a:noFill/>
          </a:ln>
        </p:spPr>
        <p:style>
          <a:lnRef idx="0"/>
          <a:fillRef idx="0"/>
          <a:effectRef idx="0"/>
          <a:fontRef idx="minor"/>
        </p:style>
        <p:txBody>
          <a:bodyPr lIns="0" rIns="0" tIns="0" bIns="0" anchor="t">
            <a:normAutofit/>
          </a:bodyPr>
          <a:p>
            <a:pPr defTabSz="914400">
              <a:lnSpc>
                <a:spcPts val="5720"/>
              </a:lnSpc>
              <a:tabLst>
                <a:tab algn="l" pos="0"/>
              </a:tabLst>
            </a:pPr>
            <a:r>
              <a:rPr b="1" lang="en-US" sz="5200" spc="-1" strike="noStrike">
                <a:solidFill>
                  <a:srgbClr val="f5f3ec"/>
                </a:solidFill>
                <a:latin typeface="Georgia"/>
                <a:ea typeface="Georgia"/>
              </a:rPr>
              <a:t>AR Based Dental Imaging and Abnormality Visualization</a:t>
            </a:r>
            <a:endParaRPr b="0" lang="en-US" sz="5200" spc="-1" strike="noStrike">
              <a:solidFill>
                <a:srgbClr val="ffffff"/>
              </a:solidFill>
              <a:latin typeface="Arial"/>
            </a:endParaRPr>
          </a:p>
        </p:txBody>
      </p:sp>
      <p:sp>
        <p:nvSpPr>
          <p:cNvPr id="12" name="Shape 4"/>
          <p:cNvSpPr/>
          <p:nvPr/>
        </p:nvSpPr>
        <p:spPr>
          <a:xfrm>
            <a:off x="812880" y="4083120"/>
            <a:ext cx="760320" cy="23760"/>
          </a:xfrm>
          <a:prstGeom prst="rect">
            <a:avLst/>
          </a:prstGeom>
          <a:solidFill>
            <a:srgbClr val="0e8a82"/>
          </a:solidFill>
          <a:ln w="0">
            <a:noFill/>
          </a:ln>
        </p:spPr>
        <p:style>
          <a:lnRef idx="0"/>
          <a:fillRef idx="0"/>
          <a:effectRef idx="0"/>
          <a:fontRef idx="minor"/>
        </p:style>
        <p:txBody>
          <a:bodyPr lIns="90000" rIns="90000" tIns="-19440" bIns="-19440" anchor="t">
            <a:noAutofit/>
          </a:bodyPr>
          <a:p>
            <a:pPr defTabSz="914400">
              <a:lnSpc>
                <a:spcPct val="100000"/>
              </a:lnSpc>
            </a:pPr>
            <a:endParaRPr b="0" lang="en-US" sz="1800" spc="-1" strike="noStrike">
              <a:solidFill>
                <a:schemeClr val="dk1"/>
              </a:solidFill>
              <a:latin typeface="Calibri"/>
            </a:endParaRPr>
          </a:p>
        </p:txBody>
      </p:sp>
      <p:sp>
        <p:nvSpPr>
          <p:cNvPr id="13" name="Text 5"/>
          <p:cNvSpPr/>
          <p:nvPr/>
        </p:nvSpPr>
        <p:spPr>
          <a:xfrm>
            <a:off x="812880" y="4108680"/>
            <a:ext cx="10881720" cy="497520"/>
          </a:xfrm>
          <a:prstGeom prst="rect">
            <a:avLst/>
          </a:prstGeom>
          <a:noFill/>
          <a:ln w="0">
            <a:noFill/>
          </a:ln>
        </p:spPr>
        <p:style>
          <a:lnRef idx="0"/>
          <a:fillRef idx="0"/>
          <a:effectRef idx="0"/>
          <a:fontRef idx="minor"/>
        </p:style>
        <p:txBody>
          <a:bodyPr lIns="0" rIns="0" tIns="0" bIns="0" anchor="t">
            <a:spAutoFit/>
          </a:bodyPr>
          <a:p>
            <a:pPr defTabSz="914400">
              <a:lnSpc>
                <a:spcPts val="3920"/>
              </a:lnSpc>
              <a:tabLst>
                <a:tab algn="l" pos="0"/>
              </a:tabLst>
            </a:pPr>
            <a:r>
              <a:rPr b="1" lang="en-US" sz="2800" spc="-1" strike="noStrike">
                <a:solidFill>
                  <a:srgbClr val="bfd8d5"/>
                </a:solidFill>
                <a:latin typeface="Arial"/>
                <a:ea typeface="Arial"/>
              </a:rPr>
              <a:t>Faculty Supervisor: Prof. Subodh Kumar</a:t>
            </a:r>
            <a:endParaRPr b="0" lang="en-US" sz="2800" spc="-1" strike="noStrike">
              <a:solidFill>
                <a:srgbClr val="ffffff"/>
              </a:solidFill>
              <a:latin typeface="Arial"/>
            </a:endParaRPr>
          </a:p>
        </p:txBody>
      </p:sp>
      <p:sp>
        <p:nvSpPr>
          <p:cNvPr id="14" name="Text 6"/>
          <p:cNvSpPr/>
          <p:nvPr/>
        </p:nvSpPr>
        <p:spPr>
          <a:xfrm>
            <a:off x="812880" y="4817520"/>
            <a:ext cx="10881720" cy="379080"/>
          </a:xfrm>
          <a:prstGeom prst="rect">
            <a:avLst/>
          </a:prstGeom>
          <a:noFill/>
          <a:ln w="0">
            <a:noFill/>
          </a:ln>
        </p:spPr>
        <p:style>
          <a:lnRef idx="0"/>
          <a:fillRef idx="0"/>
          <a:effectRef idx="0"/>
          <a:fontRef idx="minor"/>
        </p:style>
        <p:txBody>
          <a:bodyPr lIns="0" rIns="0" tIns="0" bIns="0" anchor="t">
            <a:normAutofit/>
          </a:bodyPr>
          <a:p>
            <a:pPr defTabSz="914400">
              <a:lnSpc>
                <a:spcPts val="2801"/>
              </a:lnSpc>
              <a:tabLst>
                <a:tab algn="l" pos="0"/>
              </a:tabLst>
            </a:pPr>
            <a:r>
              <a:rPr b="0" lang="en-US" sz="2000" spc="-1" strike="noStrike">
                <a:solidFill>
                  <a:srgbClr val="f5f3ec"/>
                </a:solidFill>
                <a:latin typeface="Arial"/>
                <a:ea typeface="Arial"/>
              </a:rPr>
              <a:t>Subhash Malaviya (2023CS10749)· Nishant Jotriwal (2023CS10376)</a:t>
            </a:r>
            <a:endParaRPr b="0" lang="en-US" sz="2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15" name="Text 0"/>
          <p:cNvSpPr/>
          <p:nvPr/>
        </p:nvSpPr>
        <p:spPr>
          <a:xfrm>
            <a:off x="812880" y="812880"/>
            <a:ext cx="108817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86" strike="noStrike">
                <a:solidFill>
                  <a:srgbClr val="0e8a82"/>
                </a:solidFill>
                <a:latin typeface="Arial"/>
                <a:ea typeface="Arial"/>
              </a:rPr>
              <a:t>PROBLEM STATEMENT</a:t>
            </a:r>
            <a:endParaRPr b="0" lang="en-US" sz="1400" spc="-1" strike="noStrike">
              <a:solidFill>
                <a:srgbClr val="000000"/>
              </a:solidFill>
              <a:latin typeface="Arial"/>
            </a:endParaRPr>
          </a:p>
        </p:txBody>
      </p:sp>
      <p:sp>
        <p:nvSpPr>
          <p:cNvPr id="16" name="Shape 2"/>
          <p:cNvSpPr/>
          <p:nvPr/>
        </p:nvSpPr>
        <p:spPr>
          <a:xfrm>
            <a:off x="816120" y="3952440"/>
            <a:ext cx="3378600" cy="1884600"/>
          </a:xfrm>
          <a:prstGeom prst="roundRect">
            <a:avLst>
              <a:gd name="adj" fmla="val 5218"/>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17" name="Image 0" descr="Users"/>
          <p:cNvPicPr/>
          <p:nvPr/>
        </p:nvPicPr>
        <p:blipFill>
          <a:blip r:embed="rId1"/>
          <a:stretch/>
        </p:blipFill>
        <p:spPr>
          <a:xfrm>
            <a:off x="1071000" y="4207320"/>
            <a:ext cx="277560" cy="277560"/>
          </a:xfrm>
          <a:prstGeom prst="rect">
            <a:avLst/>
          </a:prstGeom>
          <a:ln w="0">
            <a:noFill/>
          </a:ln>
        </p:spPr>
      </p:pic>
      <p:sp>
        <p:nvSpPr>
          <p:cNvPr id="18" name="Text 3"/>
          <p:cNvSpPr/>
          <p:nvPr/>
        </p:nvSpPr>
        <p:spPr>
          <a:xfrm>
            <a:off x="1071000" y="4588200"/>
            <a:ext cx="2954880" cy="101916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1e2430"/>
                </a:solidFill>
                <a:latin typeface="Arial"/>
                <a:ea typeface="Arial"/>
              </a:rPr>
              <a:t>Abnormality visualization needs every tooth identified individually, tracked live, and measured — not just a mouth.</a:t>
            </a:r>
            <a:endParaRPr b="0" lang="en-US" sz="1400" spc="-1" strike="noStrike">
              <a:solidFill>
                <a:srgbClr val="000000"/>
              </a:solidFill>
              <a:latin typeface="Arial"/>
            </a:endParaRPr>
          </a:p>
        </p:txBody>
      </p:sp>
      <p:sp>
        <p:nvSpPr>
          <p:cNvPr id="19" name="Shape 4"/>
          <p:cNvSpPr/>
          <p:nvPr/>
        </p:nvSpPr>
        <p:spPr>
          <a:xfrm>
            <a:off x="4405680" y="3952440"/>
            <a:ext cx="3378600" cy="1884600"/>
          </a:xfrm>
          <a:prstGeom prst="roundRect">
            <a:avLst>
              <a:gd name="adj" fmla="val 5218"/>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0" name="Image 1" descr="Lock"/>
          <p:cNvPicPr/>
          <p:nvPr/>
        </p:nvPicPr>
        <p:blipFill>
          <a:blip r:embed="rId2"/>
          <a:stretch/>
        </p:blipFill>
        <p:spPr>
          <a:xfrm>
            <a:off x="4660560" y="4207320"/>
            <a:ext cx="277560" cy="277560"/>
          </a:xfrm>
          <a:prstGeom prst="rect">
            <a:avLst/>
          </a:prstGeom>
          <a:ln w="0">
            <a:noFill/>
          </a:ln>
        </p:spPr>
      </p:pic>
      <p:sp>
        <p:nvSpPr>
          <p:cNvPr id="21" name="Text 5"/>
          <p:cNvSpPr/>
          <p:nvPr/>
        </p:nvSpPr>
        <p:spPr>
          <a:xfrm>
            <a:off x="4660560" y="4588200"/>
            <a:ext cx="2954880" cy="101916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1e2430"/>
                </a:solidFill>
                <a:latin typeface="Arial"/>
                <a:ea typeface="Arial"/>
              </a:rPr>
              <a:t>Everything must run on-device: dental imagery is sensitive, so no camera frame ever leaves the phone or laptop.</a:t>
            </a:r>
            <a:endParaRPr b="0" lang="en-US" sz="1400" spc="-1" strike="noStrike">
              <a:solidFill>
                <a:srgbClr val="000000"/>
              </a:solidFill>
              <a:latin typeface="Arial"/>
            </a:endParaRPr>
          </a:p>
        </p:txBody>
      </p:sp>
      <p:sp>
        <p:nvSpPr>
          <p:cNvPr id="22" name="Shape 6"/>
          <p:cNvSpPr/>
          <p:nvPr/>
        </p:nvSpPr>
        <p:spPr>
          <a:xfrm>
            <a:off x="7995600" y="3952440"/>
            <a:ext cx="3378600" cy="1884600"/>
          </a:xfrm>
          <a:prstGeom prst="roundRect">
            <a:avLst>
              <a:gd name="adj" fmla="val 5218"/>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3" name="Image 2" descr="Verified"/>
          <p:cNvPicPr/>
          <p:nvPr/>
        </p:nvPicPr>
        <p:blipFill>
          <a:blip r:embed="rId3"/>
          <a:stretch/>
        </p:blipFill>
        <p:spPr>
          <a:xfrm>
            <a:off x="8250480" y="4207320"/>
            <a:ext cx="277560" cy="277560"/>
          </a:xfrm>
          <a:prstGeom prst="rect">
            <a:avLst/>
          </a:prstGeom>
          <a:ln w="0">
            <a:noFill/>
          </a:ln>
        </p:spPr>
      </p:pic>
      <p:sp>
        <p:nvSpPr>
          <p:cNvPr id="24" name="Text 7"/>
          <p:cNvSpPr/>
          <p:nvPr/>
        </p:nvSpPr>
        <p:spPr>
          <a:xfrm>
            <a:off x="8250480" y="4588200"/>
            <a:ext cx="2954880" cy="101916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1e2430"/>
                </a:solidFill>
                <a:latin typeface="Arial"/>
                <a:ea typeface="Arial"/>
              </a:rPr>
              <a:t>Goal: a live AR overlay that detects, tracks, types and measures every visible tooth — the foundation abnormality visualization plugs into.</a:t>
            </a:r>
            <a:endParaRPr b="0" lang="en-US" sz="1400" spc="-1" strike="noStrike">
              <a:solidFill>
                <a:srgbClr val="000000"/>
              </a:solidFill>
              <a:latin typeface="Arial"/>
            </a:endParaRPr>
          </a:p>
        </p:txBody>
      </p:sp>
      <p:sp>
        <p:nvSpPr>
          <p:cNvPr id="25" name="Text 8"/>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26" name="Text 9"/>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02 / 11</a:t>
            </a:r>
            <a:endParaRPr b="0" lang="en-US" sz="1800" spc="-1" strike="noStrike">
              <a:solidFill>
                <a:srgbClr val="000000"/>
              </a:solidFill>
              <a:latin typeface="Arial"/>
            </a:endParaRPr>
          </a:p>
        </p:txBody>
      </p:sp>
      <p:sp>
        <p:nvSpPr>
          <p:cNvPr id="27" name="Text 1"/>
          <p:cNvSpPr/>
          <p:nvPr/>
        </p:nvSpPr>
        <p:spPr>
          <a:xfrm>
            <a:off x="812880" y="1163160"/>
            <a:ext cx="10135800" cy="1395360"/>
          </a:xfrm>
          <a:prstGeom prst="rect">
            <a:avLst/>
          </a:prstGeom>
          <a:noFill/>
          <a:ln w="0">
            <a:noFill/>
          </a:ln>
        </p:spPr>
        <p:style>
          <a:lnRef idx="0"/>
          <a:fillRef idx="0"/>
          <a:effectRef idx="0"/>
          <a:fontRef idx="minor"/>
        </p:style>
        <p:txBody>
          <a:bodyPr lIns="0" rIns="0" tIns="0" bIns="0" anchor="t">
            <a:normAutofit fontScale="50000"/>
          </a:bodyPr>
          <a:p>
            <a:pPr defTabSz="914400">
              <a:lnSpc>
                <a:spcPts val="3600"/>
              </a:lnSpc>
              <a:tabLst>
                <a:tab algn="l" pos="0"/>
              </a:tabLst>
            </a:pPr>
            <a:r>
              <a:rPr b="1" lang="en-US" sz="3000" spc="-1" strike="noStrike">
                <a:solidFill>
                  <a:srgbClr val="101c33"/>
                </a:solidFill>
                <a:latin typeface="Georgia"/>
                <a:ea typeface="Georgia"/>
              </a:rPr>
              <a:t>Dentists need reliable tooth-level localization to visualize and communicate dental findings. However, identifying and tracking individual teeth in live camera footage is challenging due to motion, viewpoint changes, and overlapping/adjacent teeth.</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28" name="Text 0"/>
          <p:cNvSpPr/>
          <p:nvPr/>
        </p:nvSpPr>
        <p:spPr>
          <a:xfrm>
            <a:off x="812880" y="812880"/>
            <a:ext cx="108817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86" strike="noStrike">
                <a:solidFill>
                  <a:srgbClr val="0e8a82"/>
                </a:solidFill>
                <a:latin typeface="Arial"/>
                <a:ea typeface="Arial"/>
              </a:rPr>
              <a:t>STARTING POINT</a:t>
            </a:r>
            <a:endParaRPr b="0" lang="en-US" sz="1400" spc="-1" strike="noStrike">
              <a:solidFill>
                <a:srgbClr val="000000"/>
              </a:solidFill>
              <a:latin typeface="Arial"/>
            </a:endParaRPr>
          </a:p>
        </p:txBody>
      </p:sp>
      <p:sp>
        <p:nvSpPr>
          <p:cNvPr id="29" name="Text 1"/>
          <p:cNvSpPr/>
          <p:nvPr/>
        </p:nvSpPr>
        <p:spPr>
          <a:xfrm>
            <a:off x="812880" y="1137960"/>
            <a:ext cx="10881720" cy="450360"/>
          </a:xfrm>
          <a:prstGeom prst="rect">
            <a:avLst/>
          </a:prstGeom>
          <a:noFill/>
          <a:ln w="0">
            <a:noFill/>
          </a:ln>
        </p:spPr>
        <p:style>
          <a:lnRef idx="0"/>
          <a:fillRef idx="0"/>
          <a:effectRef idx="0"/>
          <a:fontRef idx="minor"/>
        </p:style>
        <p:txBody>
          <a:bodyPr lIns="0" rIns="0" tIns="0" bIns="0" anchor="t">
            <a:normAutofit/>
          </a:bodyPr>
          <a:p>
            <a:pPr defTabSz="914400">
              <a:lnSpc>
                <a:spcPts val="3359"/>
              </a:lnSpc>
              <a:tabLst>
                <a:tab algn="l" pos="0"/>
              </a:tabLst>
            </a:pPr>
            <a:r>
              <a:rPr b="1" lang="en-US" sz="2800" spc="-1" strike="noStrike">
                <a:solidFill>
                  <a:srgbClr val="101c33"/>
                </a:solidFill>
                <a:latin typeface="Georgia"/>
                <a:ea typeface="Georgia"/>
              </a:rPr>
              <a:t>Step 1 — proving the core technique on a simple object</a:t>
            </a:r>
            <a:endParaRPr b="0" lang="en-US" sz="2800" spc="-1" strike="noStrike">
              <a:solidFill>
                <a:srgbClr val="000000"/>
              </a:solidFill>
              <a:latin typeface="Arial"/>
            </a:endParaRPr>
          </a:p>
        </p:txBody>
      </p:sp>
      <p:sp>
        <p:nvSpPr>
          <p:cNvPr id="30" name="Image 0"/>
          <p:cNvSpPr/>
          <p:nvPr/>
        </p:nvSpPr>
        <p:spPr>
          <a:xfrm>
            <a:off x="819000" y="1877760"/>
            <a:ext cx="10551960" cy="1554120"/>
          </a:xfrm>
          <a:prstGeom prst="roundRect">
            <a:avLst>
              <a:gd name="adj" fmla="val 6122"/>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 name="Shape 2"/>
          <p:cNvSpPr/>
          <p:nvPr/>
        </p:nvSpPr>
        <p:spPr>
          <a:xfrm>
            <a:off x="816120" y="1874520"/>
            <a:ext cx="10558080" cy="1560240"/>
          </a:xfrm>
          <a:prstGeom prst="roundRect">
            <a:avLst>
              <a:gd name="adj" fmla="val 6301"/>
            </a:avLst>
          </a:prstGeom>
          <a:noFill/>
          <a:ln w="6350">
            <a:solidFill>
              <a:srgbClr val="101c33"/>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2" name="Text 3"/>
          <p:cNvSpPr/>
          <p:nvPr/>
        </p:nvSpPr>
        <p:spPr>
          <a:xfrm>
            <a:off x="812880" y="3746520"/>
            <a:ext cx="1088172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Original photo → disc-ellipse fit → full 6-DoF pose from a 3D model → z-buffer → UV coordinates → surface unwrap → composited AR result.</a:t>
            </a:r>
            <a:endParaRPr b="0" lang="en-US" sz="1200" spc="-1" strike="noStrike">
              <a:solidFill>
                <a:srgbClr val="000000"/>
              </a:solidFill>
              <a:latin typeface="Arial"/>
            </a:endParaRPr>
          </a:p>
        </p:txBody>
      </p:sp>
      <p:sp>
        <p:nvSpPr>
          <p:cNvPr id="33" name="Shape 4"/>
          <p:cNvSpPr/>
          <p:nvPr/>
        </p:nvSpPr>
        <p:spPr>
          <a:xfrm>
            <a:off x="816120" y="4269960"/>
            <a:ext cx="3378600" cy="1567080"/>
          </a:xfrm>
          <a:prstGeom prst="roundRect">
            <a:avLst>
              <a:gd name="adj" fmla="val 6274"/>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 name="Text 5"/>
          <p:cNvSpPr/>
          <p:nvPr/>
        </p:nvSpPr>
        <p:spPr>
          <a:xfrm>
            <a:off x="1019880" y="4474080"/>
            <a:ext cx="3059640" cy="25236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101c33"/>
                </a:solidFill>
                <a:latin typeface="Arial"/>
                <a:ea typeface="Arial"/>
              </a:rPr>
              <a:t>No markers, no depth sensor</a:t>
            </a:r>
            <a:endParaRPr b="0" lang="en-US" sz="1500" spc="-1" strike="noStrike">
              <a:solidFill>
                <a:srgbClr val="000000"/>
              </a:solidFill>
              <a:latin typeface="Arial"/>
            </a:endParaRPr>
          </a:p>
        </p:txBody>
      </p:sp>
      <p:sp>
        <p:nvSpPr>
          <p:cNvPr id="35" name="Text 6"/>
          <p:cNvSpPr/>
          <p:nvPr/>
        </p:nvSpPr>
        <p:spPr>
          <a:xfrm>
            <a:off x="1019880" y="4766040"/>
            <a:ext cx="3059640" cy="6638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Full 6-DoF pose estimated from the object's own visible geometry — a single ellipse — in plain video.</a:t>
            </a:r>
            <a:endParaRPr b="0" lang="en-US" sz="1200" spc="-1" strike="noStrike">
              <a:solidFill>
                <a:srgbClr val="000000"/>
              </a:solidFill>
              <a:latin typeface="Arial"/>
            </a:endParaRPr>
          </a:p>
        </p:txBody>
      </p:sp>
      <p:sp>
        <p:nvSpPr>
          <p:cNvPr id="36" name="Shape 7"/>
          <p:cNvSpPr/>
          <p:nvPr/>
        </p:nvSpPr>
        <p:spPr>
          <a:xfrm>
            <a:off x="4405680" y="4269960"/>
            <a:ext cx="3378600" cy="1567080"/>
          </a:xfrm>
          <a:prstGeom prst="roundRect">
            <a:avLst>
              <a:gd name="adj" fmla="val 6274"/>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7" name="Text 8"/>
          <p:cNvSpPr/>
          <p:nvPr/>
        </p:nvSpPr>
        <p:spPr>
          <a:xfrm>
            <a:off x="4609800" y="4474080"/>
            <a:ext cx="3059640" cy="48096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101c33"/>
                </a:solidFill>
                <a:latin typeface="Arial"/>
                <a:ea typeface="Arial"/>
              </a:rPr>
              <a:t>Content lives in the object's space</a:t>
            </a:r>
            <a:endParaRPr b="0" lang="en-US" sz="1500" spc="-1" strike="noStrike">
              <a:solidFill>
                <a:srgbClr val="000000"/>
              </a:solidFill>
              <a:latin typeface="Arial"/>
            </a:endParaRPr>
          </a:p>
        </p:txBody>
      </p:sp>
      <p:sp>
        <p:nvSpPr>
          <p:cNvPr id="38" name="Text 9"/>
          <p:cNvSpPr/>
          <p:nvPr/>
        </p:nvSpPr>
        <p:spPr>
          <a:xfrm>
            <a:off x="4609800" y="4994640"/>
            <a:ext cx="3059640" cy="6638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The logo is UV-mapped once, in the cup's own surface coordinates — not a flat sticker re-warped every frame.</a:t>
            </a:r>
            <a:endParaRPr b="0" lang="en-US" sz="1200" spc="-1" strike="noStrike">
              <a:solidFill>
                <a:srgbClr val="000000"/>
              </a:solidFill>
              <a:latin typeface="Arial"/>
            </a:endParaRPr>
          </a:p>
        </p:txBody>
      </p:sp>
      <p:sp>
        <p:nvSpPr>
          <p:cNvPr id="39" name="Shape 10"/>
          <p:cNvSpPr/>
          <p:nvPr/>
        </p:nvSpPr>
        <p:spPr>
          <a:xfrm>
            <a:off x="7995600" y="4269960"/>
            <a:ext cx="3378600" cy="1567080"/>
          </a:xfrm>
          <a:prstGeom prst="roundRect">
            <a:avLst>
              <a:gd name="adj" fmla="val 6274"/>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0" name="Text 11"/>
          <p:cNvSpPr/>
          <p:nvPr/>
        </p:nvSpPr>
        <p:spPr>
          <a:xfrm>
            <a:off x="8199720" y="4474080"/>
            <a:ext cx="3059640" cy="252360"/>
          </a:xfrm>
          <a:prstGeom prst="rect">
            <a:avLst/>
          </a:prstGeom>
          <a:noFill/>
          <a:ln w="0">
            <a:noFill/>
          </a:ln>
        </p:spPr>
        <p:style>
          <a:lnRef idx="0"/>
          <a:fillRef idx="0"/>
          <a:effectRef idx="0"/>
          <a:fontRef idx="minor"/>
        </p:style>
        <p:txBody>
          <a:bodyPr lIns="0" rIns="0" tIns="0" bIns="0" anchor="t">
            <a:normAutofit/>
          </a:bodyPr>
          <a:p>
            <a:pPr defTabSz="914400">
              <a:lnSpc>
                <a:spcPts val="1800"/>
              </a:lnSpc>
              <a:tabLst>
                <a:tab algn="l" pos="0"/>
              </a:tabLst>
            </a:pPr>
            <a:r>
              <a:rPr b="1" lang="en-US" sz="1500" spc="-1" strike="noStrike">
                <a:solidFill>
                  <a:srgbClr val="101c33"/>
                </a:solidFill>
                <a:latin typeface="Arial"/>
                <a:ea typeface="Arial"/>
              </a:rPr>
              <a:t>The throughline for Steps 2–3</a:t>
            </a:r>
            <a:endParaRPr b="0" lang="en-US" sz="1500" spc="-1" strike="noStrike">
              <a:solidFill>
                <a:srgbClr val="000000"/>
              </a:solidFill>
              <a:latin typeface="Arial"/>
            </a:endParaRPr>
          </a:p>
        </p:txBody>
      </p:sp>
      <p:sp>
        <p:nvSpPr>
          <p:cNvPr id="41" name="Text 12"/>
          <p:cNvSpPr/>
          <p:nvPr/>
        </p:nvSpPr>
        <p:spPr>
          <a:xfrm>
            <a:off x="8199720" y="4766040"/>
            <a:ext cx="3059640" cy="66384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Only the camera pose changes per frame — Step 3 applies the same idea to a moving mouth instead of a static cup.</a:t>
            </a:r>
            <a:endParaRPr b="0" lang="en-US" sz="1200" spc="-1" strike="noStrike">
              <a:solidFill>
                <a:srgbClr val="000000"/>
              </a:solidFill>
              <a:latin typeface="Arial"/>
            </a:endParaRPr>
          </a:p>
        </p:txBody>
      </p:sp>
      <p:sp>
        <p:nvSpPr>
          <p:cNvPr id="42" name="Text 13"/>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43" name="Text 14"/>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03 / 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44" name="Text 0"/>
          <p:cNvSpPr/>
          <p:nvPr/>
        </p:nvSpPr>
        <p:spPr>
          <a:xfrm>
            <a:off x="812880" y="812880"/>
            <a:ext cx="10881720" cy="234000"/>
          </a:xfrm>
          <a:prstGeom prst="rect">
            <a:avLst/>
          </a:prstGeom>
          <a:noFill/>
          <a:ln w="0">
            <a:noFill/>
          </a:ln>
        </p:spPr>
        <p:style>
          <a:lnRef idx="0"/>
          <a:fillRef idx="0"/>
          <a:effectRef idx="0"/>
          <a:fontRef idx="minor"/>
        </p:style>
        <p:txBody>
          <a:bodyPr lIns="0" rIns="0" tIns="0" bIns="0" anchor="t">
            <a:normAutofit/>
          </a:bodyPr>
          <a:p>
            <a:pPr defTabSz="914400">
              <a:lnSpc>
                <a:spcPts val="1672"/>
              </a:lnSpc>
              <a:tabLst>
                <a:tab algn="l" pos="0"/>
              </a:tabLst>
            </a:pPr>
            <a:r>
              <a:rPr b="1" lang="en-US" sz="1200" spc="86" strike="noStrike">
                <a:solidFill>
                  <a:srgbClr val="0e8a82"/>
                </a:solidFill>
                <a:latin typeface="Arial"/>
                <a:ea typeface="Arial"/>
              </a:rPr>
              <a:t>STARTING POINT</a:t>
            </a:r>
            <a:endParaRPr b="0" lang="en-US" sz="1200" spc="-1" strike="noStrike">
              <a:solidFill>
                <a:srgbClr val="000000"/>
              </a:solidFill>
              <a:latin typeface="Arial"/>
            </a:endParaRPr>
          </a:p>
        </p:txBody>
      </p:sp>
      <p:sp>
        <p:nvSpPr>
          <p:cNvPr id="45" name="Text 1"/>
          <p:cNvSpPr/>
          <p:nvPr/>
        </p:nvSpPr>
        <p:spPr>
          <a:xfrm>
            <a:off x="812880" y="1099440"/>
            <a:ext cx="10881720" cy="745200"/>
          </a:xfrm>
          <a:prstGeom prst="rect">
            <a:avLst/>
          </a:prstGeom>
          <a:noFill/>
          <a:ln w="0">
            <a:noFill/>
          </a:ln>
        </p:spPr>
        <p:style>
          <a:lnRef idx="0"/>
          <a:fillRef idx="0"/>
          <a:effectRef idx="0"/>
          <a:fontRef idx="minor"/>
        </p:style>
        <p:txBody>
          <a:bodyPr lIns="0" rIns="0" tIns="0" bIns="0" anchor="t">
            <a:normAutofit/>
          </a:bodyPr>
          <a:p>
            <a:pPr defTabSz="914400">
              <a:lnSpc>
                <a:spcPts val="3234"/>
              </a:lnSpc>
              <a:tabLst>
                <a:tab algn="l" pos="0"/>
              </a:tabLst>
            </a:pPr>
            <a:r>
              <a:rPr b="1" lang="en-US" sz="2700" spc="-1" strike="noStrike">
                <a:solidFill>
                  <a:srgbClr val="101c33"/>
                </a:solidFill>
                <a:latin typeface="Georgia"/>
                <a:ea typeface="Georgia"/>
              </a:rPr>
              <a:t>Result — and the foundation the rest of the project builds on</a:t>
            </a:r>
            <a:endParaRPr b="0" lang="en-US" sz="2700" spc="-1" strike="noStrike">
              <a:solidFill>
                <a:srgbClr val="000000"/>
              </a:solidFill>
              <a:latin typeface="Arial"/>
            </a:endParaRPr>
          </a:p>
        </p:txBody>
      </p:sp>
      <p:pic>
        <p:nvPicPr>
          <p:cNvPr id="46" name="Image 0" descr="The same logo rendered at seven viewing angles, from minus ninety to plus ninety degrees azimuth, staying locked to the cup's curved surface at every angle"/>
          <p:cNvPicPr/>
          <p:nvPr/>
        </p:nvPicPr>
        <p:blipFill>
          <a:blip r:embed="rId1"/>
          <a:stretch/>
        </p:blipFill>
        <p:spPr>
          <a:xfrm>
            <a:off x="1611720" y="2055960"/>
            <a:ext cx="8966880" cy="1279440"/>
          </a:xfrm>
          <a:prstGeom prst="rect">
            <a:avLst/>
          </a:prstGeom>
          <a:ln w="0">
            <a:noFill/>
          </a:ln>
        </p:spPr>
      </p:pic>
      <p:sp>
        <p:nvSpPr>
          <p:cNvPr id="47" name="Shape 2"/>
          <p:cNvSpPr/>
          <p:nvPr/>
        </p:nvSpPr>
        <p:spPr>
          <a:xfrm>
            <a:off x="816120" y="2052720"/>
            <a:ext cx="10558080" cy="1285920"/>
          </a:xfrm>
          <a:prstGeom prst="roundRect">
            <a:avLst>
              <a:gd name="adj" fmla="val 7644"/>
            </a:avLst>
          </a:prstGeom>
          <a:noFill/>
          <a:ln w="6350">
            <a:solidFill>
              <a:srgbClr val="101c33"/>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8" name="Text 3"/>
          <p:cNvSpPr/>
          <p:nvPr/>
        </p:nvSpPr>
        <p:spPr>
          <a:xfrm>
            <a:off x="812880" y="3571920"/>
            <a:ext cx="10881720" cy="206280"/>
          </a:xfrm>
          <a:prstGeom prst="rect">
            <a:avLst/>
          </a:prstGeom>
          <a:noFill/>
          <a:ln w="0">
            <a:noFill/>
          </a:ln>
        </p:spPr>
        <p:style>
          <a:lnRef idx="0"/>
          <a:fillRef idx="0"/>
          <a:effectRef idx="0"/>
          <a:fontRef idx="minor"/>
        </p:style>
        <p:txBody>
          <a:bodyPr lIns="0" rIns="0" tIns="0" bIns="0" anchor="t">
            <a:normAutofit/>
          </a:bodyPr>
          <a:p>
            <a:pPr defTabSz="914400">
              <a:lnSpc>
                <a:spcPts val="1474"/>
              </a:lnSpc>
              <a:tabLst>
                <a:tab algn="l" pos="0"/>
              </a:tabLst>
            </a:pPr>
            <a:r>
              <a:rPr b="0" lang="en-US" sz="1050" spc="-1" strike="noStrike">
                <a:solidFill>
                  <a:srgbClr val="4a5568"/>
                </a:solidFill>
                <a:latin typeface="Arial"/>
                <a:ea typeface="Arial"/>
              </a:rPr>
              <a:t>Same logo, seven viewing angles — the AR content stays locked to the cup's own surface, not the screen.</a:t>
            </a:r>
            <a:endParaRPr b="0" lang="en-US" sz="1050" spc="-1" strike="noStrike">
              <a:solidFill>
                <a:srgbClr val="000000"/>
              </a:solidFill>
              <a:latin typeface="Arial"/>
            </a:endParaRPr>
          </a:p>
        </p:txBody>
      </p:sp>
      <p:sp>
        <p:nvSpPr>
          <p:cNvPr id="49" name="Shape 4"/>
          <p:cNvSpPr/>
          <p:nvPr/>
        </p:nvSpPr>
        <p:spPr>
          <a:xfrm>
            <a:off x="816120" y="3986280"/>
            <a:ext cx="10558080" cy="1850760"/>
          </a:xfrm>
          <a:prstGeom prst="roundRect">
            <a:avLst>
              <a:gd name="adj" fmla="val 5313"/>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0" name="Text 5"/>
          <p:cNvSpPr/>
          <p:nvPr/>
        </p:nvSpPr>
        <p:spPr>
          <a:xfrm>
            <a:off x="1071000" y="4241160"/>
            <a:ext cx="10350000" cy="228960"/>
          </a:xfrm>
          <a:prstGeom prst="rect">
            <a:avLst/>
          </a:prstGeom>
          <a:noFill/>
          <a:ln w="0">
            <a:noFill/>
          </a:ln>
        </p:spPr>
        <p:style>
          <a:lnRef idx="0"/>
          <a:fillRef idx="0"/>
          <a:effectRef idx="0"/>
          <a:fontRef idx="minor"/>
        </p:style>
        <p:txBody>
          <a:bodyPr lIns="0" rIns="0" tIns="0" bIns="0" anchor="t">
            <a:normAutofit/>
          </a:bodyPr>
          <a:p>
            <a:pPr defTabSz="914400">
              <a:lnSpc>
                <a:spcPts val="1621"/>
              </a:lnSpc>
              <a:tabLst>
                <a:tab algn="l" pos="0"/>
              </a:tabLst>
            </a:pPr>
            <a:r>
              <a:rPr b="1" lang="en-US" sz="1350" spc="-1" strike="noStrike">
                <a:solidFill>
                  <a:srgbClr val="101c33"/>
                </a:solidFill>
                <a:latin typeface="Arial"/>
                <a:ea typeface="Arial"/>
              </a:rPr>
              <a:t>Before tooth detection existed: Step 2's mouth anchor</a:t>
            </a:r>
            <a:endParaRPr b="0" lang="en-US" sz="1350" spc="-1" strike="noStrike">
              <a:solidFill>
                <a:srgbClr val="000000"/>
              </a:solidFill>
              <a:latin typeface="Arial"/>
            </a:endParaRPr>
          </a:p>
        </p:txBody>
      </p:sp>
      <p:pic>
        <p:nvPicPr>
          <p:cNvPr id="51" name="Image 1" descr="ellipse"/>
          <p:cNvPicPr/>
          <p:nvPr/>
        </p:nvPicPr>
        <p:blipFill>
          <a:blip r:embed="rId2"/>
          <a:stretch/>
        </p:blipFill>
        <p:spPr>
          <a:xfrm>
            <a:off x="1071000" y="4629960"/>
            <a:ext cx="87120" cy="87120"/>
          </a:xfrm>
          <a:prstGeom prst="rect">
            <a:avLst/>
          </a:prstGeom>
          <a:ln w="0">
            <a:noFill/>
          </a:ln>
        </p:spPr>
      </p:pic>
      <p:sp>
        <p:nvSpPr>
          <p:cNvPr id="52" name="Text 6"/>
          <p:cNvSpPr/>
          <p:nvPr/>
        </p:nvSpPr>
        <p:spPr>
          <a:xfrm>
            <a:off x="1274040" y="4550040"/>
            <a:ext cx="664380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MediaPipe Face Landmarker — a live, 478-point 3D face mesh, entirely on-device</a:t>
            </a:r>
            <a:endParaRPr b="0" lang="en-US" sz="1400" spc="-1" strike="noStrike">
              <a:solidFill>
                <a:srgbClr val="000000"/>
              </a:solidFill>
              <a:latin typeface="Arial"/>
            </a:endParaRPr>
          </a:p>
        </p:txBody>
      </p:sp>
      <p:pic>
        <p:nvPicPr>
          <p:cNvPr id="53" name="Image 2" descr="ellipse"/>
          <p:cNvPicPr/>
          <p:nvPr/>
        </p:nvPicPr>
        <p:blipFill>
          <a:blip r:embed="rId3"/>
          <a:stretch/>
        </p:blipFill>
        <p:spPr>
          <a:xfrm>
            <a:off x="1071000" y="4933440"/>
            <a:ext cx="87120" cy="87120"/>
          </a:xfrm>
          <a:prstGeom prst="rect">
            <a:avLst/>
          </a:prstGeom>
          <a:ln w="0">
            <a:noFill/>
          </a:ln>
        </p:spPr>
      </p:pic>
      <p:sp>
        <p:nvSpPr>
          <p:cNvPr id="54" name="Text 7"/>
          <p:cNvSpPr/>
          <p:nvPr/>
        </p:nvSpPr>
        <p:spPr>
          <a:xfrm>
            <a:off x="1274040" y="4853520"/>
            <a:ext cx="890316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A stable, roll-corrected coordinate frame built from the lips, that survives head motion and changes in distance</a:t>
            </a:r>
            <a:endParaRPr b="0" lang="en-US" sz="1400" spc="-1" strike="noStrike">
              <a:solidFill>
                <a:srgbClr val="000000"/>
              </a:solidFill>
              <a:latin typeface="Arial"/>
            </a:endParaRPr>
          </a:p>
        </p:txBody>
      </p:sp>
      <p:pic>
        <p:nvPicPr>
          <p:cNvPr id="55" name="Image 3" descr="ellipse"/>
          <p:cNvPicPr/>
          <p:nvPr/>
        </p:nvPicPr>
        <p:blipFill>
          <a:blip r:embed="rId4"/>
          <a:srcRect l="0" t="-2024" r="0" b="-2024"/>
          <a:stretch/>
        </p:blipFill>
        <p:spPr>
          <a:xfrm>
            <a:off x="1071000" y="5337720"/>
            <a:ext cx="71280" cy="87120"/>
          </a:xfrm>
          <a:prstGeom prst="rect">
            <a:avLst/>
          </a:prstGeom>
          <a:ln w="0">
            <a:noFill/>
          </a:ln>
        </p:spPr>
      </p:pic>
      <p:sp>
        <p:nvSpPr>
          <p:cNvPr id="56" name="Text 8"/>
          <p:cNvSpPr/>
          <p:nvPr/>
        </p:nvSpPr>
        <p:spPr>
          <a:xfrm>
            <a:off x="1258200" y="5133240"/>
            <a:ext cx="10157040" cy="52128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Every later stage — the tooth crop, detection, tracking, AR placement — anchors to this one frame, just as Step 1's logo anchored to the cup's UV space</a:t>
            </a:r>
            <a:endParaRPr b="0" lang="en-US" sz="1400" spc="-1" strike="noStrike">
              <a:solidFill>
                <a:srgbClr val="000000"/>
              </a:solidFill>
              <a:latin typeface="Arial"/>
            </a:endParaRPr>
          </a:p>
        </p:txBody>
      </p:sp>
      <p:sp>
        <p:nvSpPr>
          <p:cNvPr id="57" name="Text 9"/>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58" name="Text 10"/>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04 / 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59" name="Text 0"/>
          <p:cNvSpPr/>
          <p:nvPr/>
        </p:nvSpPr>
        <p:spPr>
          <a:xfrm>
            <a:off x="812880" y="812880"/>
            <a:ext cx="108817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86" strike="noStrike">
                <a:solidFill>
                  <a:srgbClr val="0e8a82"/>
                </a:solidFill>
                <a:latin typeface="Arial"/>
                <a:ea typeface="Arial"/>
              </a:rPr>
              <a:t>PROGRESS SO FAR</a:t>
            </a:r>
            <a:endParaRPr b="0" lang="en-US" sz="1400" spc="-1" strike="noStrike">
              <a:solidFill>
                <a:srgbClr val="000000"/>
              </a:solidFill>
              <a:latin typeface="Arial"/>
            </a:endParaRPr>
          </a:p>
        </p:txBody>
      </p:sp>
      <p:sp>
        <p:nvSpPr>
          <p:cNvPr id="60" name="Text 1"/>
          <p:cNvSpPr/>
          <p:nvPr/>
        </p:nvSpPr>
        <p:spPr>
          <a:xfrm>
            <a:off x="812880" y="1137960"/>
            <a:ext cx="10881720" cy="450360"/>
          </a:xfrm>
          <a:prstGeom prst="rect">
            <a:avLst/>
          </a:prstGeom>
          <a:noFill/>
          <a:ln w="0">
            <a:noFill/>
          </a:ln>
        </p:spPr>
        <p:style>
          <a:lnRef idx="0"/>
          <a:fillRef idx="0"/>
          <a:effectRef idx="0"/>
          <a:fontRef idx="minor"/>
        </p:style>
        <p:txBody>
          <a:bodyPr lIns="0" rIns="0" tIns="0" bIns="0" anchor="t">
            <a:normAutofit/>
          </a:bodyPr>
          <a:p>
            <a:pPr defTabSz="914400">
              <a:lnSpc>
                <a:spcPts val="3359"/>
              </a:lnSpc>
              <a:tabLst>
                <a:tab algn="l" pos="0"/>
              </a:tabLst>
            </a:pPr>
            <a:r>
              <a:rPr b="1" lang="en-US" sz="2800" spc="-1" strike="noStrike">
                <a:solidFill>
                  <a:srgbClr val="101c33"/>
                </a:solidFill>
                <a:latin typeface="Georgia"/>
                <a:ea typeface="Georgia"/>
              </a:rPr>
              <a:t>Detecting every visible tooth</a:t>
            </a:r>
            <a:endParaRPr b="0" lang="en-US" sz="2800" spc="-1" strike="noStrike">
              <a:solidFill>
                <a:srgbClr val="000000"/>
              </a:solidFill>
              <a:latin typeface="Arial"/>
            </a:endParaRPr>
          </a:p>
        </p:txBody>
      </p:sp>
      <p:sp>
        <p:nvSpPr>
          <p:cNvPr id="61" name="Shape 2"/>
          <p:cNvSpPr/>
          <p:nvPr/>
        </p:nvSpPr>
        <p:spPr>
          <a:xfrm>
            <a:off x="816120" y="2203560"/>
            <a:ext cx="1698840" cy="690480"/>
          </a:xfrm>
          <a:prstGeom prst="roundRect">
            <a:avLst>
              <a:gd name="adj" fmla="val 12385"/>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2" name="Text 3"/>
          <p:cNvSpPr/>
          <p:nvPr/>
        </p:nvSpPr>
        <p:spPr>
          <a:xfrm>
            <a:off x="918360" y="2366640"/>
            <a:ext cx="1494000" cy="389520"/>
          </a:xfrm>
          <a:prstGeom prst="rect">
            <a:avLst/>
          </a:prstGeom>
          <a:noFill/>
          <a:ln w="0">
            <a:noFill/>
          </a:ln>
        </p:spPr>
        <p:style>
          <a:lnRef idx="0"/>
          <a:fillRef idx="0"/>
          <a:effectRef idx="0"/>
          <a:fontRef idx="minor"/>
        </p:style>
        <p:txBody>
          <a:bodyPr lIns="0" rIns="0" tIns="0" bIns="0" anchor="t">
            <a:normAutofit/>
          </a:bodyPr>
          <a:p>
            <a:pPr algn="ctr" defTabSz="914400">
              <a:lnSpc>
                <a:spcPts val="1440"/>
              </a:lnSpc>
              <a:tabLst>
                <a:tab algn="l" pos="0"/>
              </a:tabLst>
            </a:pPr>
            <a:r>
              <a:rPr b="1" lang="en-US" sz="1200" spc="-1" strike="noStrike">
                <a:solidFill>
                  <a:srgbClr val="101c33"/>
                </a:solidFill>
                <a:latin typeface="Arial"/>
                <a:ea typeface="Arial"/>
              </a:rPr>
              <a:t>Rectified mouth crop</a:t>
            </a:r>
            <a:endParaRPr b="0" lang="en-US" sz="1200" spc="-1" strike="noStrike">
              <a:solidFill>
                <a:srgbClr val="000000"/>
              </a:solidFill>
              <a:latin typeface="Arial"/>
            </a:endParaRPr>
          </a:p>
        </p:txBody>
      </p:sp>
      <p:pic>
        <p:nvPicPr>
          <p:cNvPr id="63" name="Image 0" descr="arrow-right"/>
          <p:cNvPicPr/>
          <p:nvPr/>
        </p:nvPicPr>
        <p:blipFill>
          <a:blip r:embed="rId1"/>
          <a:stretch/>
        </p:blipFill>
        <p:spPr>
          <a:xfrm>
            <a:off x="2621160" y="2473200"/>
            <a:ext cx="303120" cy="150480"/>
          </a:xfrm>
          <a:prstGeom prst="rect">
            <a:avLst/>
          </a:prstGeom>
          <a:ln w="0">
            <a:noFill/>
          </a:ln>
        </p:spPr>
      </p:pic>
      <p:sp>
        <p:nvSpPr>
          <p:cNvPr id="64" name="Shape 4"/>
          <p:cNvSpPr/>
          <p:nvPr/>
        </p:nvSpPr>
        <p:spPr>
          <a:xfrm>
            <a:off x="3030840" y="2203560"/>
            <a:ext cx="1698840" cy="690480"/>
          </a:xfrm>
          <a:prstGeom prst="roundRect">
            <a:avLst>
              <a:gd name="adj" fmla="val 12385"/>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5" name="Text 5"/>
          <p:cNvSpPr/>
          <p:nvPr/>
        </p:nvSpPr>
        <p:spPr>
          <a:xfrm>
            <a:off x="3133440" y="2366640"/>
            <a:ext cx="1494000" cy="389520"/>
          </a:xfrm>
          <a:prstGeom prst="rect">
            <a:avLst/>
          </a:prstGeom>
          <a:noFill/>
          <a:ln w="0">
            <a:noFill/>
          </a:ln>
        </p:spPr>
        <p:style>
          <a:lnRef idx="0"/>
          <a:fillRef idx="0"/>
          <a:effectRef idx="0"/>
          <a:fontRef idx="minor"/>
        </p:style>
        <p:txBody>
          <a:bodyPr lIns="0" rIns="0" tIns="0" bIns="0" anchor="t">
            <a:normAutofit/>
          </a:bodyPr>
          <a:p>
            <a:pPr algn="ctr" defTabSz="914400">
              <a:lnSpc>
                <a:spcPts val="1440"/>
              </a:lnSpc>
              <a:tabLst>
                <a:tab algn="l" pos="0"/>
              </a:tabLst>
            </a:pPr>
            <a:r>
              <a:rPr b="1" lang="en-US" sz="1200" spc="-1" strike="noStrike">
                <a:solidFill>
                  <a:srgbClr val="101c33"/>
                </a:solidFill>
                <a:latin typeface="Arial"/>
                <a:ea typeface="Arial"/>
              </a:rPr>
              <a:t>ToothNet-lite (U-Net)</a:t>
            </a:r>
            <a:endParaRPr b="0" lang="en-US" sz="1200" spc="-1" strike="noStrike">
              <a:solidFill>
                <a:srgbClr val="000000"/>
              </a:solidFill>
              <a:latin typeface="Arial"/>
            </a:endParaRPr>
          </a:p>
        </p:txBody>
      </p:sp>
      <p:pic>
        <p:nvPicPr>
          <p:cNvPr id="66" name="Image 1" descr="arrow-right"/>
          <p:cNvPicPr/>
          <p:nvPr/>
        </p:nvPicPr>
        <p:blipFill>
          <a:blip r:embed="rId2"/>
          <a:stretch/>
        </p:blipFill>
        <p:spPr>
          <a:xfrm>
            <a:off x="4836240" y="2473200"/>
            <a:ext cx="303120" cy="150480"/>
          </a:xfrm>
          <a:prstGeom prst="rect">
            <a:avLst/>
          </a:prstGeom>
          <a:ln w="0">
            <a:noFill/>
          </a:ln>
        </p:spPr>
      </p:pic>
      <p:sp>
        <p:nvSpPr>
          <p:cNvPr id="67" name="Shape 6"/>
          <p:cNvSpPr/>
          <p:nvPr/>
        </p:nvSpPr>
        <p:spPr>
          <a:xfrm>
            <a:off x="5245560" y="2203560"/>
            <a:ext cx="1698840" cy="690480"/>
          </a:xfrm>
          <a:prstGeom prst="roundRect">
            <a:avLst>
              <a:gd name="adj" fmla="val 12385"/>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8" name="Text 7"/>
          <p:cNvSpPr/>
          <p:nvPr/>
        </p:nvSpPr>
        <p:spPr>
          <a:xfrm>
            <a:off x="5443920" y="2458080"/>
            <a:ext cx="1302480" cy="206640"/>
          </a:xfrm>
          <a:prstGeom prst="rect">
            <a:avLst/>
          </a:prstGeom>
          <a:noFill/>
          <a:ln w="0">
            <a:noFill/>
          </a:ln>
        </p:spPr>
        <p:style>
          <a:lnRef idx="0"/>
          <a:fillRef idx="0"/>
          <a:effectRef idx="0"/>
          <a:fontRef idx="minor"/>
        </p:style>
        <p:txBody>
          <a:bodyPr lIns="0" rIns="0" tIns="0" bIns="0" anchor="t">
            <a:normAutofit/>
          </a:bodyPr>
          <a:p>
            <a:pPr algn="ctr" defTabSz="914400">
              <a:lnSpc>
                <a:spcPts val="1440"/>
              </a:lnSpc>
              <a:tabLst>
                <a:tab algn="l" pos="0"/>
              </a:tabLst>
            </a:pPr>
            <a:r>
              <a:rPr b="1" lang="en-US" sz="1200" spc="-1" strike="noStrike">
                <a:solidFill>
                  <a:srgbClr val="101c33"/>
                </a:solidFill>
                <a:latin typeface="Arial"/>
                <a:ea typeface="Arial"/>
              </a:rPr>
              <a:t>3 predicted maps</a:t>
            </a:r>
            <a:endParaRPr b="0" lang="en-US" sz="1200" spc="-1" strike="noStrike">
              <a:solidFill>
                <a:srgbClr val="000000"/>
              </a:solidFill>
              <a:latin typeface="Arial"/>
            </a:endParaRPr>
          </a:p>
        </p:txBody>
      </p:sp>
      <p:pic>
        <p:nvPicPr>
          <p:cNvPr id="69" name="Image 2" descr="arrow-right"/>
          <p:cNvPicPr/>
          <p:nvPr/>
        </p:nvPicPr>
        <p:blipFill>
          <a:blip r:embed="rId3"/>
          <a:stretch/>
        </p:blipFill>
        <p:spPr>
          <a:xfrm>
            <a:off x="7050960" y="2473200"/>
            <a:ext cx="303120" cy="150480"/>
          </a:xfrm>
          <a:prstGeom prst="rect">
            <a:avLst/>
          </a:prstGeom>
          <a:ln w="0">
            <a:noFill/>
          </a:ln>
        </p:spPr>
      </p:pic>
      <p:sp>
        <p:nvSpPr>
          <p:cNvPr id="70" name="Shape 8"/>
          <p:cNvSpPr/>
          <p:nvPr/>
        </p:nvSpPr>
        <p:spPr>
          <a:xfrm>
            <a:off x="7460640" y="2203560"/>
            <a:ext cx="1698840" cy="690480"/>
          </a:xfrm>
          <a:prstGeom prst="roundRect">
            <a:avLst>
              <a:gd name="adj" fmla="val 12385"/>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1" name="Text 9"/>
          <p:cNvSpPr/>
          <p:nvPr/>
        </p:nvSpPr>
        <p:spPr>
          <a:xfrm>
            <a:off x="7798320" y="2458080"/>
            <a:ext cx="1023480" cy="206640"/>
          </a:xfrm>
          <a:prstGeom prst="rect">
            <a:avLst/>
          </a:prstGeom>
          <a:noFill/>
          <a:ln w="0">
            <a:noFill/>
          </a:ln>
        </p:spPr>
        <p:style>
          <a:lnRef idx="0"/>
          <a:fillRef idx="0"/>
          <a:effectRef idx="0"/>
          <a:fontRef idx="minor"/>
        </p:style>
        <p:txBody>
          <a:bodyPr lIns="0" rIns="0" tIns="0" bIns="0" anchor="t">
            <a:normAutofit/>
          </a:bodyPr>
          <a:p>
            <a:pPr algn="ctr" defTabSz="914400">
              <a:lnSpc>
                <a:spcPts val="1440"/>
              </a:lnSpc>
              <a:tabLst>
                <a:tab algn="l" pos="0"/>
              </a:tabLst>
            </a:pPr>
            <a:r>
              <a:rPr b="1" lang="en-US" sz="1200" spc="-1" strike="noStrike">
                <a:solidFill>
                  <a:srgbClr val="101c33"/>
                </a:solidFill>
                <a:latin typeface="Arial"/>
                <a:ea typeface="Arial"/>
              </a:rPr>
              <a:t>Peak seeding</a:t>
            </a:r>
            <a:endParaRPr b="0" lang="en-US" sz="1200" spc="-1" strike="noStrike">
              <a:solidFill>
                <a:srgbClr val="000000"/>
              </a:solidFill>
              <a:latin typeface="Arial"/>
            </a:endParaRPr>
          </a:p>
        </p:txBody>
      </p:sp>
      <p:pic>
        <p:nvPicPr>
          <p:cNvPr id="72" name="Image 3" descr="arrow-right"/>
          <p:cNvPicPr/>
          <p:nvPr/>
        </p:nvPicPr>
        <p:blipFill>
          <a:blip r:embed="rId4"/>
          <a:stretch/>
        </p:blipFill>
        <p:spPr>
          <a:xfrm>
            <a:off x="9266040" y="2473200"/>
            <a:ext cx="303120" cy="150480"/>
          </a:xfrm>
          <a:prstGeom prst="rect">
            <a:avLst/>
          </a:prstGeom>
          <a:ln w="0">
            <a:noFill/>
          </a:ln>
        </p:spPr>
      </p:pic>
      <p:sp>
        <p:nvSpPr>
          <p:cNvPr id="73" name="Shape 10"/>
          <p:cNvSpPr/>
          <p:nvPr/>
        </p:nvSpPr>
        <p:spPr>
          <a:xfrm>
            <a:off x="9675360" y="2203560"/>
            <a:ext cx="1698840" cy="690480"/>
          </a:xfrm>
          <a:prstGeom prst="roundRect">
            <a:avLst>
              <a:gd name="adj" fmla="val 12385"/>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4" name="Text 11"/>
          <p:cNvSpPr/>
          <p:nvPr/>
        </p:nvSpPr>
        <p:spPr>
          <a:xfrm>
            <a:off x="9936000" y="2458080"/>
            <a:ext cx="1177920" cy="206640"/>
          </a:xfrm>
          <a:prstGeom prst="rect">
            <a:avLst/>
          </a:prstGeom>
          <a:noFill/>
          <a:ln w="0">
            <a:noFill/>
          </a:ln>
        </p:spPr>
        <p:style>
          <a:lnRef idx="0"/>
          <a:fillRef idx="0"/>
          <a:effectRef idx="0"/>
          <a:fontRef idx="minor"/>
        </p:style>
        <p:txBody>
          <a:bodyPr lIns="0" rIns="0" tIns="0" bIns="0" anchor="t">
            <a:normAutofit/>
          </a:bodyPr>
          <a:p>
            <a:pPr algn="ctr" defTabSz="914400">
              <a:lnSpc>
                <a:spcPts val="1440"/>
              </a:lnSpc>
              <a:tabLst>
                <a:tab algn="l" pos="0"/>
              </a:tabLst>
            </a:pPr>
            <a:r>
              <a:rPr b="1" lang="en-US" sz="1200" spc="-1" strike="noStrike">
                <a:solidFill>
                  <a:srgbClr val="101c33"/>
                </a:solidFill>
                <a:latin typeface="Arial"/>
                <a:ea typeface="Arial"/>
              </a:rPr>
              <a:t>Watershed split</a:t>
            </a:r>
            <a:endParaRPr b="0" lang="en-US" sz="1200" spc="-1" strike="noStrike">
              <a:solidFill>
                <a:srgbClr val="000000"/>
              </a:solidFill>
              <a:latin typeface="Arial"/>
            </a:endParaRPr>
          </a:p>
        </p:txBody>
      </p:sp>
      <p:sp>
        <p:nvSpPr>
          <p:cNvPr id="75" name="Text 12"/>
          <p:cNvSpPr/>
          <p:nvPr/>
        </p:nvSpPr>
        <p:spPr>
          <a:xfrm>
            <a:off x="812880" y="3534480"/>
            <a:ext cx="10463040" cy="518760"/>
          </a:xfrm>
          <a:prstGeom prst="rect">
            <a:avLst/>
          </a:prstGeom>
          <a:noFill/>
          <a:ln w="0">
            <a:noFill/>
          </a:ln>
        </p:spPr>
        <p:style>
          <a:lnRef idx="0"/>
          <a:fillRef idx="0"/>
          <a:effectRef idx="0"/>
          <a:fontRef idx="minor"/>
        </p:style>
        <p:txBody>
          <a:bodyPr lIns="0" rIns="0" tIns="0" bIns="0" anchor="t">
            <a:normAutofit/>
          </a:bodyPr>
          <a:p>
            <a:pPr defTabSz="914400">
              <a:lnSpc>
                <a:spcPts val="1950"/>
              </a:lnSpc>
              <a:tabLst>
                <a:tab algn="l" pos="0"/>
              </a:tabLst>
            </a:pPr>
            <a:r>
              <a:rPr b="0" lang="en-US" sz="1300" spc="-1" strike="noStrike">
                <a:solidFill>
                  <a:srgbClr val="4a5568"/>
                </a:solidFill>
                <a:latin typeface="Arial"/>
                <a:ea typeface="Arial"/>
              </a:rPr>
              <a:t>Peaks come from a CenterNet-style center heatmap; touching teeth are separated by a geodesic watershed (Dial's bucket-queue algorithm) grown from those peaks along the predicted tooth mask, out to its boundary map.</a:t>
            </a:r>
            <a:endParaRPr b="0" lang="en-US" sz="1300" spc="-1" strike="noStrike">
              <a:solidFill>
                <a:srgbClr val="000000"/>
              </a:solidFill>
              <a:latin typeface="Arial"/>
            </a:endParaRPr>
          </a:p>
        </p:txBody>
      </p:sp>
      <p:sp>
        <p:nvSpPr>
          <p:cNvPr id="76" name="Shape 13"/>
          <p:cNvSpPr/>
          <p:nvPr/>
        </p:nvSpPr>
        <p:spPr>
          <a:xfrm>
            <a:off x="816120" y="4668840"/>
            <a:ext cx="3378600" cy="1168200"/>
          </a:xfrm>
          <a:prstGeom prst="roundRect">
            <a:avLst>
              <a:gd name="adj" fmla="val 8412"/>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7" name="Text 14"/>
          <p:cNvSpPr/>
          <p:nvPr/>
        </p:nvSpPr>
        <p:spPr>
          <a:xfrm>
            <a:off x="2055600" y="4872600"/>
            <a:ext cx="899280" cy="521280"/>
          </a:xfrm>
          <a:prstGeom prst="rect">
            <a:avLst/>
          </a:prstGeom>
          <a:noFill/>
          <a:ln w="0">
            <a:noFill/>
          </a:ln>
        </p:spPr>
        <p:style>
          <a:lnRef idx="0"/>
          <a:fillRef idx="0"/>
          <a:effectRef idx="0"/>
          <a:fontRef idx="minor"/>
        </p:style>
        <p:txBody>
          <a:bodyPr lIns="0" rIns="0" tIns="0" bIns="0" anchor="t">
            <a:normAutofit/>
          </a:bodyPr>
          <a:p>
            <a:pPr algn="ctr" defTabSz="914400">
              <a:lnSpc>
                <a:spcPts val="3920"/>
              </a:lnSpc>
              <a:tabLst>
                <a:tab algn="l" pos="0"/>
              </a:tabLst>
            </a:pPr>
            <a:r>
              <a:rPr b="1" lang="en-US" sz="2800" spc="-1" strike="noStrike">
                <a:solidFill>
                  <a:srgbClr val="0e8a82"/>
                </a:solidFill>
                <a:latin typeface="Arial"/>
                <a:ea typeface="Arial"/>
              </a:rPr>
              <a:t>125K</a:t>
            </a:r>
            <a:endParaRPr b="0" lang="en-US" sz="2800" spc="-1" strike="noStrike">
              <a:solidFill>
                <a:srgbClr val="000000"/>
              </a:solidFill>
              <a:latin typeface="Arial"/>
            </a:endParaRPr>
          </a:p>
        </p:txBody>
      </p:sp>
      <p:sp>
        <p:nvSpPr>
          <p:cNvPr id="78" name="Text 15"/>
          <p:cNvSpPr/>
          <p:nvPr/>
        </p:nvSpPr>
        <p:spPr>
          <a:xfrm>
            <a:off x="1866600" y="5421240"/>
            <a:ext cx="1276920" cy="236880"/>
          </a:xfrm>
          <a:prstGeom prst="rect">
            <a:avLst/>
          </a:prstGeom>
          <a:noFill/>
          <a:ln w="0">
            <a:noFill/>
          </a:ln>
        </p:spPr>
        <p:style>
          <a:lnRef idx="0"/>
          <a:fillRef idx="0"/>
          <a:effectRef idx="0"/>
          <a:fontRef idx="minor"/>
        </p:style>
        <p:txBody>
          <a:bodyPr lIns="0" rIns="0" tIns="0" bIns="0" anchor="t">
            <a:normAutofit/>
          </a:bodyPr>
          <a:p>
            <a:pPr algn="ctr" defTabSz="914400">
              <a:lnSpc>
                <a:spcPts val="1681"/>
              </a:lnSpc>
              <a:tabLst>
                <a:tab algn="l" pos="0"/>
              </a:tabLst>
            </a:pPr>
            <a:r>
              <a:rPr b="0" lang="en-US" sz="1200" spc="-1" strike="noStrike">
                <a:solidFill>
                  <a:srgbClr val="4a5568"/>
                </a:solidFill>
                <a:latin typeface="Arial"/>
                <a:ea typeface="Arial"/>
              </a:rPr>
              <a:t>model parameters</a:t>
            </a:r>
            <a:endParaRPr b="0" lang="en-US" sz="1200" spc="-1" strike="noStrike">
              <a:solidFill>
                <a:srgbClr val="000000"/>
              </a:solidFill>
              <a:latin typeface="Arial"/>
            </a:endParaRPr>
          </a:p>
        </p:txBody>
      </p:sp>
      <p:sp>
        <p:nvSpPr>
          <p:cNvPr id="79" name="Shape 16"/>
          <p:cNvSpPr/>
          <p:nvPr/>
        </p:nvSpPr>
        <p:spPr>
          <a:xfrm>
            <a:off x="4405680" y="4668840"/>
            <a:ext cx="3378600" cy="1168200"/>
          </a:xfrm>
          <a:prstGeom prst="roundRect">
            <a:avLst>
              <a:gd name="adj" fmla="val 8412"/>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80" name="Text 17"/>
          <p:cNvSpPr/>
          <p:nvPr/>
        </p:nvSpPr>
        <p:spPr>
          <a:xfrm>
            <a:off x="5620680" y="4872600"/>
            <a:ext cx="948600" cy="521280"/>
          </a:xfrm>
          <a:prstGeom prst="rect">
            <a:avLst/>
          </a:prstGeom>
          <a:noFill/>
          <a:ln w="0">
            <a:noFill/>
          </a:ln>
        </p:spPr>
        <p:style>
          <a:lnRef idx="0"/>
          <a:fillRef idx="0"/>
          <a:effectRef idx="0"/>
          <a:fontRef idx="minor"/>
        </p:style>
        <p:txBody>
          <a:bodyPr lIns="0" rIns="0" tIns="0" bIns="0" anchor="t">
            <a:normAutofit/>
          </a:bodyPr>
          <a:p>
            <a:pPr algn="ctr" defTabSz="914400">
              <a:lnSpc>
                <a:spcPts val="3920"/>
              </a:lnSpc>
              <a:tabLst>
                <a:tab algn="l" pos="0"/>
              </a:tabLst>
            </a:pPr>
            <a:r>
              <a:rPr b="1" lang="en-US" sz="2800" spc="-1" strike="noStrike">
                <a:solidFill>
                  <a:srgbClr val="0e8a82"/>
                </a:solidFill>
                <a:latin typeface="Arial"/>
                <a:ea typeface="Arial"/>
              </a:rPr>
              <a:t>~80M</a:t>
            </a:r>
            <a:endParaRPr b="0" lang="en-US" sz="2800" spc="-1" strike="noStrike">
              <a:solidFill>
                <a:srgbClr val="000000"/>
              </a:solidFill>
              <a:latin typeface="Arial"/>
            </a:endParaRPr>
          </a:p>
        </p:txBody>
      </p:sp>
      <p:sp>
        <p:nvSpPr>
          <p:cNvPr id="81" name="Text 18"/>
          <p:cNvSpPr/>
          <p:nvPr/>
        </p:nvSpPr>
        <p:spPr>
          <a:xfrm>
            <a:off x="5321160" y="5421240"/>
            <a:ext cx="1548000" cy="236880"/>
          </a:xfrm>
          <a:prstGeom prst="rect">
            <a:avLst/>
          </a:prstGeom>
          <a:noFill/>
          <a:ln w="0">
            <a:noFill/>
          </a:ln>
        </p:spPr>
        <p:style>
          <a:lnRef idx="0"/>
          <a:fillRef idx="0"/>
          <a:effectRef idx="0"/>
          <a:fontRef idx="minor"/>
        </p:style>
        <p:txBody>
          <a:bodyPr lIns="0" rIns="0" tIns="0" bIns="0" anchor="t">
            <a:normAutofit/>
          </a:bodyPr>
          <a:p>
            <a:pPr algn="ctr" defTabSz="914400">
              <a:lnSpc>
                <a:spcPts val="1681"/>
              </a:lnSpc>
              <a:tabLst>
                <a:tab algn="l" pos="0"/>
              </a:tabLst>
            </a:pPr>
            <a:r>
              <a:rPr b="0" lang="en-US" sz="1200" spc="-1" strike="noStrike">
                <a:solidFill>
                  <a:srgbClr val="4a5568"/>
                </a:solidFill>
                <a:latin typeface="Arial"/>
                <a:ea typeface="Arial"/>
              </a:rPr>
              <a:t>multiply-adds per crop</a:t>
            </a:r>
            <a:endParaRPr b="0" lang="en-US" sz="1200" spc="-1" strike="noStrike">
              <a:solidFill>
                <a:srgbClr val="000000"/>
              </a:solidFill>
              <a:latin typeface="Arial"/>
            </a:endParaRPr>
          </a:p>
        </p:txBody>
      </p:sp>
      <p:sp>
        <p:nvSpPr>
          <p:cNvPr id="82" name="Shape 19"/>
          <p:cNvSpPr/>
          <p:nvPr/>
        </p:nvSpPr>
        <p:spPr>
          <a:xfrm>
            <a:off x="7995600" y="4668840"/>
            <a:ext cx="3378600" cy="1168200"/>
          </a:xfrm>
          <a:prstGeom prst="roundRect">
            <a:avLst>
              <a:gd name="adj" fmla="val 8412"/>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83" name="Text 20"/>
          <p:cNvSpPr/>
          <p:nvPr/>
        </p:nvSpPr>
        <p:spPr>
          <a:xfrm>
            <a:off x="8963280" y="4872600"/>
            <a:ext cx="1443600" cy="521280"/>
          </a:xfrm>
          <a:prstGeom prst="rect">
            <a:avLst/>
          </a:prstGeom>
          <a:noFill/>
          <a:ln w="0">
            <a:noFill/>
          </a:ln>
        </p:spPr>
        <p:style>
          <a:lnRef idx="0"/>
          <a:fillRef idx="0"/>
          <a:effectRef idx="0"/>
          <a:fontRef idx="minor"/>
        </p:style>
        <p:txBody>
          <a:bodyPr lIns="0" rIns="0" tIns="0" bIns="0" anchor="t">
            <a:normAutofit/>
          </a:bodyPr>
          <a:p>
            <a:pPr algn="ctr" defTabSz="914400">
              <a:lnSpc>
                <a:spcPts val="3920"/>
              </a:lnSpc>
              <a:tabLst>
                <a:tab algn="l" pos="0"/>
              </a:tabLst>
            </a:pPr>
            <a:r>
              <a:rPr b="1" lang="en-US" sz="2800" spc="-1" strike="noStrike">
                <a:solidFill>
                  <a:srgbClr val="0e8a82"/>
                </a:solidFill>
                <a:latin typeface="Arial"/>
                <a:ea typeface="Arial"/>
              </a:rPr>
              <a:t>160×120</a:t>
            </a:r>
            <a:endParaRPr b="0" lang="en-US" sz="2800" spc="-1" strike="noStrike">
              <a:solidFill>
                <a:srgbClr val="000000"/>
              </a:solidFill>
              <a:latin typeface="Arial"/>
            </a:endParaRPr>
          </a:p>
        </p:txBody>
      </p:sp>
      <p:sp>
        <p:nvSpPr>
          <p:cNvPr id="84" name="Text 21"/>
          <p:cNvSpPr/>
          <p:nvPr/>
        </p:nvSpPr>
        <p:spPr>
          <a:xfrm>
            <a:off x="8953200" y="5421240"/>
            <a:ext cx="1463760" cy="236880"/>
          </a:xfrm>
          <a:prstGeom prst="rect">
            <a:avLst/>
          </a:prstGeom>
          <a:noFill/>
          <a:ln w="0">
            <a:noFill/>
          </a:ln>
        </p:spPr>
        <p:style>
          <a:lnRef idx="0"/>
          <a:fillRef idx="0"/>
          <a:effectRef idx="0"/>
          <a:fontRef idx="minor"/>
        </p:style>
        <p:txBody>
          <a:bodyPr lIns="0" rIns="0" tIns="0" bIns="0" anchor="t">
            <a:normAutofit/>
          </a:bodyPr>
          <a:p>
            <a:pPr algn="ctr" defTabSz="914400">
              <a:lnSpc>
                <a:spcPts val="1681"/>
              </a:lnSpc>
              <a:tabLst>
                <a:tab algn="l" pos="0"/>
              </a:tabLst>
            </a:pPr>
            <a:r>
              <a:rPr b="0" lang="en-US" sz="1200" spc="-1" strike="noStrike">
                <a:solidFill>
                  <a:srgbClr val="4a5568"/>
                </a:solidFill>
                <a:latin typeface="Arial"/>
                <a:ea typeface="Arial"/>
              </a:rPr>
              <a:t>input crop, on-device</a:t>
            </a:r>
            <a:endParaRPr b="0" lang="en-US" sz="1200" spc="-1" strike="noStrike">
              <a:solidFill>
                <a:srgbClr val="000000"/>
              </a:solidFill>
              <a:latin typeface="Arial"/>
            </a:endParaRPr>
          </a:p>
        </p:txBody>
      </p:sp>
      <p:sp>
        <p:nvSpPr>
          <p:cNvPr id="85" name="Text 22"/>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86" name="Text 23"/>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05 / 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87" name="Text 0"/>
          <p:cNvSpPr/>
          <p:nvPr/>
        </p:nvSpPr>
        <p:spPr>
          <a:xfrm>
            <a:off x="812880" y="812880"/>
            <a:ext cx="108817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86" strike="noStrike">
                <a:solidFill>
                  <a:srgbClr val="0e8a82"/>
                </a:solidFill>
                <a:latin typeface="Arial"/>
                <a:ea typeface="Arial"/>
              </a:rPr>
              <a:t>PROGRESS SO FAR</a:t>
            </a:r>
            <a:endParaRPr b="0" lang="en-US" sz="1400" spc="-1" strike="noStrike">
              <a:solidFill>
                <a:srgbClr val="000000"/>
              </a:solidFill>
              <a:latin typeface="Arial"/>
            </a:endParaRPr>
          </a:p>
        </p:txBody>
      </p:sp>
      <p:sp>
        <p:nvSpPr>
          <p:cNvPr id="88" name="Text 1"/>
          <p:cNvSpPr/>
          <p:nvPr/>
        </p:nvSpPr>
        <p:spPr>
          <a:xfrm>
            <a:off x="812880" y="1137960"/>
            <a:ext cx="10881720" cy="450360"/>
          </a:xfrm>
          <a:prstGeom prst="rect">
            <a:avLst/>
          </a:prstGeom>
          <a:noFill/>
          <a:ln w="0">
            <a:noFill/>
          </a:ln>
        </p:spPr>
        <p:style>
          <a:lnRef idx="0"/>
          <a:fillRef idx="0"/>
          <a:effectRef idx="0"/>
          <a:fontRef idx="minor"/>
        </p:style>
        <p:txBody>
          <a:bodyPr lIns="0" rIns="0" tIns="0" bIns="0" anchor="t">
            <a:normAutofit/>
          </a:bodyPr>
          <a:p>
            <a:pPr defTabSz="914400">
              <a:lnSpc>
                <a:spcPts val="3359"/>
              </a:lnSpc>
              <a:tabLst>
                <a:tab algn="l" pos="0"/>
              </a:tabLst>
            </a:pPr>
            <a:r>
              <a:rPr b="1" lang="en-US" sz="2800" spc="-1" strike="noStrike">
                <a:solidFill>
                  <a:srgbClr val="101c33"/>
                </a:solidFill>
                <a:latin typeface="Georgia"/>
                <a:ea typeface="Georgia"/>
              </a:rPr>
              <a:t>Tracking, typing and numbering each tooth</a:t>
            </a:r>
            <a:endParaRPr b="0" lang="en-US" sz="2800" spc="-1" strike="noStrike">
              <a:solidFill>
                <a:srgbClr val="000000"/>
              </a:solidFill>
              <a:latin typeface="Arial"/>
            </a:endParaRPr>
          </a:p>
        </p:txBody>
      </p:sp>
      <p:sp>
        <p:nvSpPr>
          <p:cNvPr id="89" name="Shape 2"/>
          <p:cNvSpPr/>
          <p:nvPr/>
        </p:nvSpPr>
        <p:spPr>
          <a:xfrm>
            <a:off x="816120" y="3317400"/>
            <a:ext cx="5173560" cy="2519640"/>
          </a:xfrm>
          <a:prstGeom prst="roundRect">
            <a:avLst>
              <a:gd name="adj" fmla="val 3904"/>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0" name="Text 3"/>
          <p:cNvSpPr/>
          <p:nvPr/>
        </p:nvSpPr>
        <p:spPr>
          <a:xfrm>
            <a:off x="1071000" y="3572280"/>
            <a:ext cx="4803840" cy="26748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1" lang="en-US" sz="1600" spc="-1" strike="noStrike">
                <a:solidFill>
                  <a:srgbClr val="101c33"/>
                </a:solidFill>
                <a:latin typeface="Arial"/>
                <a:ea typeface="Arial"/>
              </a:rPr>
              <a:t>Staying the same tooth, frame to frame</a:t>
            </a:r>
            <a:endParaRPr b="0" lang="en-US" sz="1600" spc="-1" strike="noStrike">
              <a:solidFill>
                <a:srgbClr val="000000"/>
              </a:solidFill>
              <a:latin typeface="Arial"/>
            </a:endParaRPr>
          </a:p>
        </p:txBody>
      </p:sp>
      <p:pic>
        <p:nvPicPr>
          <p:cNvPr id="91" name="Image 0" descr="ellipse"/>
          <p:cNvPicPr/>
          <p:nvPr/>
        </p:nvPicPr>
        <p:blipFill>
          <a:blip r:embed="rId1"/>
          <a:srcRect l="-644" t="0" r="-644" b="0"/>
          <a:stretch/>
        </p:blipFill>
        <p:spPr>
          <a:xfrm>
            <a:off x="1071000" y="4155120"/>
            <a:ext cx="68760" cy="87120"/>
          </a:xfrm>
          <a:prstGeom prst="rect">
            <a:avLst/>
          </a:prstGeom>
          <a:ln w="0">
            <a:noFill/>
          </a:ln>
        </p:spPr>
      </p:pic>
      <p:sp>
        <p:nvSpPr>
          <p:cNvPr id="92" name="Text 4"/>
          <p:cNvSpPr/>
          <p:nvPr/>
        </p:nvSpPr>
        <p:spPr>
          <a:xfrm>
            <a:off x="1255680" y="3968640"/>
            <a:ext cx="4613040" cy="4860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333b47"/>
                </a:solidFill>
                <a:latin typeface="Arial"/>
                <a:ea typeface="Arial"/>
              </a:rPr>
              <a:t>Hungarian algorithm (Kuhn–Munkres) finds the optimal frame-to-frame match</a:t>
            </a:r>
            <a:endParaRPr b="0" lang="en-US" sz="1300" spc="-1" strike="noStrike">
              <a:solidFill>
                <a:srgbClr val="000000"/>
              </a:solidFill>
              <a:latin typeface="Arial"/>
            </a:endParaRPr>
          </a:p>
        </p:txBody>
      </p:sp>
      <p:pic>
        <p:nvPicPr>
          <p:cNvPr id="93" name="Image 1" descr="ellipse"/>
          <p:cNvPicPr/>
          <p:nvPr/>
        </p:nvPicPr>
        <p:blipFill>
          <a:blip r:embed="rId2"/>
          <a:srcRect l="0" t="-1180" r="0" b="-1180"/>
          <a:stretch/>
        </p:blipFill>
        <p:spPr>
          <a:xfrm>
            <a:off x="1071000" y="4731840"/>
            <a:ext cx="54000" cy="87120"/>
          </a:xfrm>
          <a:prstGeom prst="rect">
            <a:avLst/>
          </a:prstGeom>
          <a:ln w="0">
            <a:noFill/>
          </a:ln>
        </p:spPr>
      </p:pic>
      <p:sp>
        <p:nvSpPr>
          <p:cNvPr id="94" name="Text 5"/>
          <p:cNvSpPr/>
          <p:nvPr/>
        </p:nvSpPr>
        <p:spPr>
          <a:xfrm>
            <a:off x="1240920" y="4545000"/>
            <a:ext cx="4628520" cy="4860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333b47"/>
                </a:solidFill>
                <a:latin typeface="Arial"/>
                <a:ea typeface="Arial"/>
              </a:rPr>
              <a:t>ByteTrack-style two-stage matching recovers low-confidence detections a naive match would drop</a:t>
            </a:r>
            <a:endParaRPr b="0" lang="en-US" sz="1300" spc="-1" strike="noStrike">
              <a:solidFill>
                <a:srgbClr val="000000"/>
              </a:solidFill>
              <a:latin typeface="Arial"/>
            </a:endParaRPr>
          </a:p>
        </p:txBody>
      </p:sp>
      <p:pic>
        <p:nvPicPr>
          <p:cNvPr id="95" name="Image 2" descr="ellipse"/>
          <p:cNvPicPr/>
          <p:nvPr/>
        </p:nvPicPr>
        <p:blipFill>
          <a:blip r:embed="rId3"/>
          <a:srcRect l="-394" t="0" r="-394" b="0"/>
          <a:stretch/>
        </p:blipFill>
        <p:spPr>
          <a:xfrm>
            <a:off x="1071000" y="5308560"/>
            <a:ext cx="74880" cy="87120"/>
          </a:xfrm>
          <a:prstGeom prst="rect">
            <a:avLst/>
          </a:prstGeom>
          <a:ln w="0">
            <a:noFill/>
          </a:ln>
        </p:spPr>
      </p:pic>
      <p:sp>
        <p:nvSpPr>
          <p:cNvPr id="96" name="Text 6"/>
          <p:cNvSpPr/>
          <p:nvPr/>
        </p:nvSpPr>
        <p:spPr>
          <a:xfrm>
            <a:off x="1261800" y="5121720"/>
            <a:ext cx="4606920" cy="4860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333b47"/>
                </a:solidFill>
                <a:latin typeface="Arial"/>
                <a:ea typeface="Arial"/>
              </a:rPr>
              <a:t>One-Euro filtering smooths box jitter without lagging behind real motion</a:t>
            </a:r>
            <a:endParaRPr b="0" lang="en-US" sz="1300" spc="-1" strike="noStrike">
              <a:solidFill>
                <a:srgbClr val="000000"/>
              </a:solidFill>
              <a:latin typeface="Arial"/>
            </a:endParaRPr>
          </a:p>
        </p:txBody>
      </p:sp>
      <p:sp>
        <p:nvSpPr>
          <p:cNvPr id="97" name="Shape 7"/>
          <p:cNvSpPr/>
          <p:nvPr/>
        </p:nvSpPr>
        <p:spPr>
          <a:xfrm>
            <a:off x="6200640" y="3317400"/>
            <a:ext cx="5173560" cy="2519640"/>
          </a:xfrm>
          <a:prstGeom prst="roundRect">
            <a:avLst>
              <a:gd name="adj" fmla="val 3904"/>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8" name="Text 8"/>
          <p:cNvSpPr/>
          <p:nvPr/>
        </p:nvSpPr>
        <p:spPr>
          <a:xfrm>
            <a:off x="6455520" y="3572280"/>
            <a:ext cx="4803840" cy="26748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1" lang="en-US" sz="1600" spc="-1" strike="noStrike">
                <a:solidFill>
                  <a:srgbClr val="101c33"/>
                </a:solidFill>
                <a:latin typeface="Arial"/>
                <a:ea typeface="Arial"/>
              </a:rPr>
              <a:t>Knowing which tooth it is</a:t>
            </a:r>
            <a:endParaRPr b="0" lang="en-US" sz="1600" spc="-1" strike="noStrike">
              <a:solidFill>
                <a:srgbClr val="000000"/>
              </a:solidFill>
              <a:latin typeface="Arial"/>
            </a:endParaRPr>
          </a:p>
        </p:txBody>
      </p:sp>
      <p:pic>
        <p:nvPicPr>
          <p:cNvPr id="99" name="Image 3" descr="ellipse"/>
          <p:cNvPicPr/>
          <p:nvPr/>
        </p:nvPicPr>
        <p:blipFill>
          <a:blip r:embed="rId4"/>
          <a:srcRect l="0" t="-2698" r="0" b="-2698"/>
          <a:stretch/>
        </p:blipFill>
        <p:spPr>
          <a:xfrm>
            <a:off x="6455520" y="4155120"/>
            <a:ext cx="46440" cy="87120"/>
          </a:xfrm>
          <a:prstGeom prst="rect">
            <a:avLst/>
          </a:prstGeom>
          <a:ln w="0">
            <a:noFill/>
          </a:ln>
        </p:spPr>
      </p:pic>
      <p:sp>
        <p:nvSpPr>
          <p:cNvPr id="100" name="Text 9"/>
          <p:cNvSpPr/>
          <p:nvPr/>
        </p:nvSpPr>
        <p:spPr>
          <a:xfrm>
            <a:off x="6618240" y="3968640"/>
            <a:ext cx="4636440" cy="4860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333b47"/>
                </a:solidFill>
                <a:latin typeface="Arial"/>
                <a:ea typeface="Arial"/>
              </a:rPr>
              <a:t>Positions are counted outward from the midline per jaw and side, inferring a skipped tooth from the size of the gap</a:t>
            </a:r>
            <a:endParaRPr b="0" lang="en-US" sz="1300" spc="-1" strike="noStrike">
              <a:solidFill>
                <a:srgbClr val="000000"/>
              </a:solidFill>
              <a:latin typeface="Arial"/>
            </a:endParaRPr>
          </a:p>
        </p:txBody>
      </p:sp>
      <p:pic>
        <p:nvPicPr>
          <p:cNvPr id="101" name="Image 4" descr="ellipse"/>
          <p:cNvPicPr/>
          <p:nvPr/>
        </p:nvPicPr>
        <p:blipFill>
          <a:blip r:embed="rId5"/>
          <a:srcRect l="0" t="-1180" r="0" b="-1180"/>
          <a:stretch/>
        </p:blipFill>
        <p:spPr>
          <a:xfrm>
            <a:off x="6455520" y="4731840"/>
            <a:ext cx="72720" cy="87120"/>
          </a:xfrm>
          <a:prstGeom prst="rect">
            <a:avLst/>
          </a:prstGeom>
          <a:ln w="0">
            <a:noFill/>
          </a:ln>
        </p:spPr>
      </p:pic>
      <p:sp>
        <p:nvSpPr>
          <p:cNvPr id="102" name="Text 10"/>
          <p:cNvSpPr/>
          <p:nvPr/>
        </p:nvSpPr>
        <p:spPr>
          <a:xfrm>
            <a:off x="6644160" y="4545000"/>
            <a:ext cx="4609440" cy="4860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333b47"/>
                </a:solidFill>
                <a:latin typeface="Arial"/>
                <a:ea typeface="Arial"/>
              </a:rPr>
              <a:t>That gives incisor / canine / premolar / molar, and a standard FDI number</a:t>
            </a:r>
            <a:endParaRPr b="0" lang="en-US" sz="1300" spc="-1" strike="noStrike">
              <a:solidFill>
                <a:srgbClr val="000000"/>
              </a:solidFill>
              <a:latin typeface="Arial"/>
            </a:endParaRPr>
          </a:p>
        </p:txBody>
      </p:sp>
      <p:pic>
        <p:nvPicPr>
          <p:cNvPr id="103" name="Image 5" descr="ellipse"/>
          <p:cNvPicPr/>
          <p:nvPr/>
        </p:nvPicPr>
        <p:blipFill>
          <a:blip r:embed="rId6"/>
          <a:srcRect l="0" t="-843" r="0" b="-843"/>
          <a:stretch/>
        </p:blipFill>
        <p:spPr>
          <a:xfrm>
            <a:off x="6455520" y="5308560"/>
            <a:ext cx="54360" cy="87120"/>
          </a:xfrm>
          <a:prstGeom prst="rect">
            <a:avLst/>
          </a:prstGeom>
          <a:ln w="0">
            <a:noFill/>
          </a:ln>
        </p:spPr>
      </p:pic>
      <p:sp>
        <p:nvSpPr>
          <p:cNvPr id="104" name="Text 11"/>
          <p:cNvSpPr/>
          <p:nvPr/>
        </p:nvSpPr>
        <p:spPr>
          <a:xfrm>
            <a:off x="6626160" y="5121720"/>
            <a:ext cx="4628160" cy="4860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333b47"/>
                </a:solidFill>
                <a:latin typeface="Arial"/>
                <a:ea typeface="Arial"/>
              </a:rPr>
              <a:t>Upper vs lower jaw comes from geometry too — the largest gap in vertical position along the arch</a:t>
            </a:r>
            <a:endParaRPr b="0" lang="en-US" sz="1300" spc="-1" strike="noStrike">
              <a:solidFill>
                <a:srgbClr val="000000"/>
              </a:solidFill>
              <a:latin typeface="Arial"/>
            </a:endParaRPr>
          </a:p>
        </p:txBody>
      </p:sp>
      <p:sp>
        <p:nvSpPr>
          <p:cNvPr id="105" name="Text 12"/>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106" name="Text 13"/>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06 / 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107" name="TextBox 1"/>
          <p:cNvSpPr/>
          <p:nvPr/>
        </p:nvSpPr>
        <p:spPr>
          <a:xfrm>
            <a:off x="812880" y="812880"/>
            <a:ext cx="10881720" cy="2131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400" spc="-1" strike="noStrike">
                <a:solidFill>
                  <a:srgbClr val="0e8a82"/>
                </a:solidFill>
                <a:latin typeface="Arial"/>
              </a:rPr>
              <a:t>PROGRESS SO FAR</a:t>
            </a:r>
            <a:endParaRPr b="0" lang="en-US" sz="1400" spc="-1" strike="noStrike">
              <a:solidFill>
                <a:srgbClr val="000000"/>
              </a:solidFill>
              <a:latin typeface="Arial"/>
            </a:endParaRPr>
          </a:p>
        </p:txBody>
      </p:sp>
      <p:sp>
        <p:nvSpPr>
          <p:cNvPr id="108" name="TextBox 2"/>
          <p:cNvSpPr/>
          <p:nvPr/>
        </p:nvSpPr>
        <p:spPr>
          <a:xfrm>
            <a:off x="812880" y="1137960"/>
            <a:ext cx="10881720" cy="4266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800" spc="-1" strike="noStrike">
                <a:solidFill>
                  <a:srgbClr val="101c33"/>
                </a:solidFill>
                <a:latin typeface="Georgia"/>
              </a:rPr>
              <a:t>Real-time tracking and tooth debug pipeline</a:t>
            </a:r>
            <a:endParaRPr b="0" lang="en-US" sz="2800" spc="-1" strike="noStrike">
              <a:solidFill>
                <a:srgbClr val="000000"/>
              </a:solidFill>
              <a:latin typeface="Arial"/>
            </a:endParaRPr>
          </a:p>
        </p:txBody>
      </p:sp>
      <p:sp>
        <p:nvSpPr>
          <p:cNvPr id="109" name="TextBox 3"/>
          <p:cNvSpPr/>
          <p:nvPr/>
        </p:nvSpPr>
        <p:spPr>
          <a:xfrm>
            <a:off x="812880" y="1649880"/>
            <a:ext cx="10881720" cy="198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300" spc="-1" strike="noStrike">
                <a:solidFill>
                  <a:srgbClr val="4a5568"/>
                </a:solidFill>
                <a:latin typeface="Arial"/>
              </a:rPr>
              <a:t>Live camera frame (30.4 FPS, conf 0.89) alongside the rectified ROI and neural watershed debug visualizer.</a:t>
            </a:r>
            <a:endParaRPr b="0" lang="en-US" sz="1300" spc="-1" strike="noStrike">
              <a:solidFill>
                <a:srgbClr val="000000"/>
              </a:solidFill>
              <a:latin typeface="Arial"/>
            </a:endParaRPr>
          </a:p>
        </p:txBody>
      </p:sp>
      <p:pic>
        <p:nvPicPr>
          <p:cNvPr id="110" name="Picture 4" descr="frame_0568_cardborder.png"/>
          <p:cNvPicPr/>
          <p:nvPr/>
        </p:nvPicPr>
        <p:blipFill>
          <a:blip r:embed="rId1"/>
          <a:stretch/>
        </p:blipFill>
        <p:spPr>
          <a:xfrm>
            <a:off x="812880" y="2049840"/>
            <a:ext cx="2107440" cy="3748320"/>
          </a:xfrm>
          <a:prstGeom prst="rect">
            <a:avLst/>
          </a:prstGeom>
          <a:ln w="0">
            <a:noFill/>
          </a:ln>
        </p:spPr>
      </p:pic>
      <p:sp>
        <p:nvSpPr>
          <p:cNvPr id="111" name="TextBox 5"/>
          <p:cNvSpPr/>
          <p:nvPr/>
        </p:nvSpPr>
        <p:spPr>
          <a:xfrm>
            <a:off x="612720" y="5839920"/>
            <a:ext cx="2507400" cy="152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000" spc="-1" strike="noStrike">
                <a:solidFill>
                  <a:srgbClr val="4a5568"/>
                </a:solidFill>
                <a:latin typeface="Arial"/>
              </a:rPr>
              <a:t>Live camera stream · 14 teeth tracked</a:t>
            </a:r>
            <a:endParaRPr b="0" lang="en-US" sz="1000" spc="-1" strike="noStrike">
              <a:solidFill>
                <a:srgbClr val="000000"/>
              </a:solidFill>
              <a:latin typeface="Arial"/>
            </a:endParaRPr>
          </a:p>
        </p:txBody>
      </p:sp>
      <p:sp>
        <p:nvSpPr>
          <p:cNvPr id="112" name="Rounded Rectangle 6"/>
          <p:cNvSpPr/>
          <p:nvPr/>
        </p:nvSpPr>
        <p:spPr>
          <a:xfrm>
            <a:off x="3182040" y="2049840"/>
            <a:ext cx="8195400" cy="2698200"/>
          </a:xfrm>
          <a:prstGeom prst="roundRect">
            <a:avLst>
              <a:gd name="adj" fmla="val 16667"/>
            </a:avLst>
          </a:prstGeom>
          <a:solidFill>
            <a:srgbClr val="ffffff"/>
          </a:solidFill>
          <a:ln>
            <a:solidFill>
              <a:srgbClr val="e3e1d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3" name="TextBox 7"/>
          <p:cNvSpPr/>
          <p:nvPr/>
        </p:nvSpPr>
        <p:spPr>
          <a:xfrm>
            <a:off x="3402000" y="2220120"/>
            <a:ext cx="7755120" cy="167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00" spc="-1" strike="noStrike">
                <a:solidFill>
                  <a:srgbClr val="0e8a82"/>
                </a:solidFill>
                <a:latin typeface="Arial"/>
              </a:rPr>
              <a:t>DETECTOR &amp; SEGMENTER DEBUG VIEW</a:t>
            </a:r>
            <a:endParaRPr b="0" lang="en-US" sz="1100" spc="-1" strike="noStrike">
              <a:solidFill>
                <a:srgbClr val="000000"/>
              </a:solidFill>
              <a:latin typeface="Arial"/>
            </a:endParaRPr>
          </a:p>
        </p:txBody>
      </p:sp>
      <p:sp>
        <p:nvSpPr>
          <p:cNvPr id="114" name="TextBox 8"/>
          <p:cNvSpPr/>
          <p:nvPr/>
        </p:nvSpPr>
        <p:spPr>
          <a:xfrm>
            <a:off x="3402000" y="2430000"/>
            <a:ext cx="7755120" cy="2052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350" spc="-1" strike="noStrike">
                <a:solidFill>
                  <a:srgbClr val="101c33"/>
                </a:solidFill>
                <a:latin typeface="Arial"/>
              </a:rPr>
              <a:t>Rectified mouth crop (160×120) paired with multi-channel model outputs</a:t>
            </a:r>
            <a:endParaRPr b="0" lang="en-US" sz="1350" spc="-1" strike="noStrike">
              <a:solidFill>
                <a:srgbClr val="000000"/>
              </a:solidFill>
              <a:latin typeface="Arial"/>
            </a:endParaRPr>
          </a:p>
        </p:txBody>
      </p:sp>
      <p:pic>
        <p:nvPicPr>
          <p:cNvPr id="115" name="Picture 9" descr="debug_panel_rounded.png"/>
          <p:cNvPicPr/>
          <p:nvPr/>
        </p:nvPicPr>
        <p:blipFill>
          <a:blip r:embed="rId2"/>
          <a:stretch/>
        </p:blipFill>
        <p:spPr>
          <a:xfrm>
            <a:off x="3402000" y="2750040"/>
            <a:ext cx="4461840" cy="1818360"/>
          </a:xfrm>
          <a:prstGeom prst="rect">
            <a:avLst/>
          </a:prstGeom>
          <a:ln w="0">
            <a:noFill/>
          </a:ln>
        </p:spPr>
      </p:pic>
      <p:sp>
        <p:nvSpPr>
          <p:cNvPr id="116" name="TextBox 10"/>
          <p:cNvSpPr/>
          <p:nvPr/>
        </p:nvSpPr>
        <p:spPr>
          <a:xfrm>
            <a:off x="8085960" y="2739960"/>
            <a:ext cx="3111480" cy="1536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00" spc="-1" strike="noStrike">
                <a:solidFill>
                  <a:srgbClr val="00a896"/>
                </a:solidFill>
                <a:latin typeface="Arial"/>
              </a:rPr>
              <a:t>● </a:t>
            </a:r>
            <a:r>
              <a:rPr b="1" lang="en-US" sz="1050" spc="-1" strike="noStrike">
                <a:solidFill>
                  <a:srgbClr val="101c33"/>
                </a:solidFill>
                <a:latin typeface="Arial"/>
              </a:rPr>
              <a:t>P(teeth) learned mask</a:t>
            </a:r>
            <a:endParaRPr b="0" lang="en-US" sz="1050" spc="-1" strike="noStrike">
              <a:solidFill>
                <a:srgbClr val="000000"/>
              </a:solidFill>
              <a:latin typeface="Arial"/>
            </a:endParaRPr>
          </a:p>
          <a:p>
            <a:pPr defTabSz="914400">
              <a:lnSpc>
                <a:spcPct val="100000"/>
              </a:lnSpc>
            </a:pPr>
            <a:r>
              <a:rPr b="0" lang="en-US" sz="920" spc="-1" strike="noStrike">
                <a:solidFill>
                  <a:srgbClr val="4a5568"/>
                </a:solidFill>
                <a:latin typeface="Arial"/>
              </a:rPr>
              <a:t>Cyan probability map (P &gt; 0.5) segmenting tooth enamel</a:t>
            </a:r>
            <a:endParaRPr b="0" lang="en-US" sz="920" spc="-1" strike="noStrike">
              <a:solidFill>
                <a:srgbClr val="000000"/>
              </a:solidFill>
              <a:latin typeface="Arial"/>
            </a:endParaRPr>
          </a:p>
          <a:p>
            <a:pPr defTabSz="914400">
              <a:lnSpc>
                <a:spcPct val="100000"/>
              </a:lnSpc>
              <a:spcBef>
                <a:spcPts val="799"/>
              </a:spcBef>
            </a:pPr>
            <a:r>
              <a:rPr b="1" lang="en-US" sz="1100" spc="-1" strike="noStrike">
                <a:solidFill>
                  <a:srgbClr val="ab47bc"/>
                </a:solidFill>
                <a:latin typeface="Arial"/>
              </a:rPr>
              <a:t>● </a:t>
            </a:r>
            <a:r>
              <a:rPr b="1" lang="en-US" sz="1050" spc="-1" strike="noStrike">
                <a:solidFill>
                  <a:srgbClr val="101c33"/>
                </a:solidFill>
                <a:latin typeface="Arial"/>
              </a:rPr>
              <a:t>Interdental boundary</a:t>
            </a:r>
            <a:endParaRPr b="0" lang="en-US" sz="1050" spc="-1" strike="noStrike">
              <a:solidFill>
                <a:srgbClr val="000000"/>
              </a:solidFill>
              <a:latin typeface="Arial"/>
            </a:endParaRPr>
          </a:p>
          <a:p>
            <a:pPr defTabSz="914400">
              <a:lnSpc>
                <a:spcPct val="100000"/>
              </a:lnSpc>
            </a:pPr>
            <a:r>
              <a:rPr b="0" lang="en-US" sz="920" spc="-1" strike="noStrike">
                <a:solidFill>
                  <a:srgbClr val="4a5568"/>
                </a:solidFill>
                <a:latin typeface="Arial"/>
              </a:rPr>
              <a:t>Magenta boundary ridges separating adjacent teeth</a:t>
            </a:r>
            <a:endParaRPr b="0" lang="en-US" sz="920" spc="-1" strike="noStrike">
              <a:solidFill>
                <a:srgbClr val="000000"/>
              </a:solidFill>
              <a:latin typeface="Arial"/>
            </a:endParaRPr>
          </a:p>
          <a:p>
            <a:pPr defTabSz="914400">
              <a:lnSpc>
                <a:spcPct val="100000"/>
              </a:lnSpc>
              <a:spcBef>
                <a:spcPts val="799"/>
              </a:spcBef>
            </a:pPr>
            <a:r>
              <a:rPr b="1" lang="en-US" sz="1100" spc="-1" strike="noStrike">
                <a:solidFill>
                  <a:srgbClr val="f59e0b"/>
                </a:solidFill>
                <a:latin typeface="Arial"/>
              </a:rPr>
              <a:t>● </a:t>
            </a:r>
            <a:r>
              <a:rPr b="1" lang="en-US" sz="1050" spc="-1" strike="noStrike">
                <a:solidFill>
                  <a:srgbClr val="101c33"/>
                </a:solidFill>
                <a:latin typeface="Arial"/>
              </a:rPr>
              <a:t>Tooth-centre peaks</a:t>
            </a:r>
            <a:endParaRPr b="0" lang="en-US" sz="1050" spc="-1" strike="noStrike">
              <a:solidFill>
                <a:srgbClr val="000000"/>
              </a:solidFill>
              <a:latin typeface="Arial"/>
            </a:endParaRPr>
          </a:p>
          <a:p>
            <a:pPr defTabSz="914400">
              <a:lnSpc>
                <a:spcPct val="100000"/>
              </a:lnSpc>
            </a:pPr>
            <a:r>
              <a:rPr b="0" lang="en-US" sz="920" spc="-1" strike="noStrike">
                <a:solidFill>
                  <a:srgbClr val="4a5568"/>
                </a:solidFill>
                <a:latin typeface="Arial"/>
              </a:rPr>
              <a:t>Yellow CenterNet peak detections as watershed seeds</a:t>
            </a:r>
            <a:endParaRPr b="0" lang="en-US" sz="920" spc="-1" strike="noStrike">
              <a:solidFill>
                <a:srgbClr val="000000"/>
              </a:solidFill>
              <a:latin typeface="Arial"/>
            </a:endParaRPr>
          </a:p>
          <a:p>
            <a:pPr defTabSz="914400">
              <a:lnSpc>
                <a:spcPct val="100000"/>
              </a:lnSpc>
              <a:spcBef>
                <a:spcPts val="799"/>
              </a:spcBef>
            </a:pPr>
            <a:r>
              <a:rPr b="1" lang="en-US" sz="1100" spc="-1" strike="noStrike">
                <a:solidFill>
                  <a:srgbClr val="64748b"/>
                </a:solidFill>
                <a:latin typeface="Arial"/>
              </a:rPr>
              <a:t>● </a:t>
            </a:r>
            <a:r>
              <a:rPr b="1" lang="en-US" sz="1050" spc="-1" strike="noStrike">
                <a:solidFill>
                  <a:srgbClr val="101c33"/>
                </a:solidFill>
                <a:latin typeface="Arial"/>
              </a:rPr>
              <a:t>Watershed instances</a:t>
            </a:r>
            <a:endParaRPr b="0" lang="en-US" sz="1050" spc="-1" strike="noStrike">
              <a:solidFill>
                <a:srgbClr val="000000"/>
              </a:solidFill>
              <a:latin typeface="Arial"/>
            </a:endParaRPr>
          </a:p>
          <a:p>
            <a:pPr defTabSz="914400">
              <a:lnSpc>
                <a:spcPct val="100000"/>
              </a:lnSpc>
            </a:pPr>
            <a:r>
              <a:rPr b="0" lang="en-US" sz="920" spc="-1" strike="noStrike">
                <a:solidFill>
                  <a:srgbClr val="4a5568"/>
                </a:solidFill>
                <a:latin typeface="Arial"/>
              </a:rPr>
              <a:t>White contours grown from peaks to split touching teeth</a:t>
            </a:r>
            <a:endParaRPr b="0" lang="en-US" sz="920" spc="-1" strike="noStrike">
              <a:solidFill>
                <a:srgbClr val="000000"/>
              </a:solidFill>
              <a:latin typeface="Arial"/>
            </a:endParaRPr>
          </a:p>
        </p:txBody>
      </p:sp>
      <p:sp>
        <p:nvSpPr>
          <p:cNvPr id="117" name="Rounded Rectangle 11"/>
          <p:cNvSpPr/>
          <p:nvPr/>
        </p:nvSpPr>
        <p:spPr>
          <a:xfrm>
            <a:off x="3182040" y="4899960"/>
            <a:ext cx="2624040" cy="1098360"/>
          </a:xfrm>
          <a:prstGeom prst="roundRect">
            <a:avLst>
              <a:gd name="adj" fmla="val 16667"/>
            </a:avLst>
          </a:prstGeom>
          <a:solidFill>
            <a:srgbClr val="ffffff"/>
          </a:solidFill>
          <a:ln>
            <a:solidFill>
              <a:srgbClr val="e3e1d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8" name="TextBox 12"/>
          <p:cNvSpPr/>
          <p:nvPr/>
        </p:nvSpPr>
        <p:spPr>
          <a:xfrm>
            <a:off x="3342240" y="5019840"/>
            <a:ext cx="2304000" cy="647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0e8a82"/>
                </a:solidFill>
                <a:latin typeface="Arial"/>
              </a:rPr>
              <a:t>30.4 FPS</a:t>
            </a:r>
            <a:endParaRPr b="0" lang="en-US" sz="2200" spc="-1" strike="noStrike">
              <a:solidFill>
                <a:srgbClr val="000000"/>
              </a:solidFill>
              <a:latin typeface="Arial"/>
            </a:endParaRPr>
          </a:p>
          <a:p>
            <a:pPr defTabSz="914400">
              <a:lnSpc>
                <a:spcPct val="100000"/>
              </a:lnSpc>
            </a:pPr>
            <a:r>
              <a:rPr b="1" lang="en-US" sz="1100" spc="-1" strike="noStrike">
                <a:solidFill>
                  <a:srgbClr val="101c33"/>
                </a:solidFill>
                <a:latin typeface="Arial"/>
              </a:rPr>
              <a:t>Real-Time Inference</a:t>
            </a:r>
            <a:endParaRPr b="0" lang="en-US" sz="1100" spc="-1" strike="noStrike">
              <a:solidFill>
                <a:srgbClr val="000000"/>
              </a:solidFill>
              <a:latin typeface="Arial"/>
            </a:endParaRPr>
          </a:p>
          <a:p>
            <a:pPr defTabSz="914400">
              <a:lnSpc>
                <a:spcPct val="100000"/>
              </a:lnSpc>
            </a:pPr>
            <a:r>
              <a:rPr b="0" lang="en-US" sz="950" spc="-1" strike="noStrike">
                <a:solidFill>
                  <a:srgbClr val="4a5568"/>
                </a:solidFill>
                <a:latin typeface="Arial"/>
              </a:rPr>
              <a:t>2.7 ms decode time, 100% on-device</a:t>
            </a:r>
            <a:endParaRPr b="0" lang="en-US" sz="950" spc="-1" strike="noStrike">
              <a:solidFill>
                <a:srgbClr val="000000"/>
              </a:solidFill>
              <a:latin typeface="Arial"/>
            </a:endParaRPr>
          </a:p>
        </p:txBody>
      </p:sp>
      <p:sp>
        <p:nvSpPr>
          <p:cNvPr id="119" name="Rounded Rectangle 13"/>
          <p:cNvSpPr/>
          <p:nvPr/>
        </p:nvSpPr>
        <p:spPr>
          <a:xfrm>
            <a:off x="5967720" y="4899960"/>
            <a:ext cx="2624040" cy="1098360"/>
          </a:xfrm>
          <a:prstGeom prst="roundRect">
            <a:avLst>
              <a:gd name="adj" fmla="val 16667"/>
            </a:avLst>
          </a:prstGeom>
          <a:solidFill>
            <a:srgbClr val="ffffff"/>
          </a:solidFill>
          <a:ln>
            <a:solidFill>
              <a:srgbClr val="e3e1d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0" name="TextBox 14"/>
          <p:cNvSpPr/>
          <p:nvPr/>
        </p:nvSpPr>
        <p:spPr>
          <a:xfrm>
            <a:off x="6127920" y="5019840"/>
            <a:ext cx="2304000" cy="647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0e8a82"/>
                </a:solidFill>
                <a:latin typeface="Arial"/>
              </a:rPr>
              <a:t>14 Teeth</a:t>
            </a:r>
            <a:endParaRPr b="0" lang="en-US" sz="2200" spc="-1" strike="noStrike">
              <a:solidFill>
                <a:srgbClr val="000000"/>
              </a:solidFill>
              <a:latin typeface="Arial"/>
            </a:endParaRPr>
          </a:p>
          <a:p>
            <a:pPr defTabSz="914400">
              <a:lnSpc>
                <a:spcPct val="100000"/>
              </a:lnSpc>
            </a:pPr>
            <a:r>
              <a:rPr b="1" lang="en-US" sz="1100" spc="-1" strike="noStrike">
                <a:solidFill>
                  <a:srgbClr val="101c33"/>
                </a:solidFill>
                <a:latin typeface="Arial"/>
              </a:rPr>
              <a:t>Dual-Arch Tracking</a:t>
            </a:r>
            <a:endParaRPr b="0" lang="en-US" sz="1100" spc="-1" strike="noStrike">
              <a:solidFill>
                <a:srgbClr val="000000"/>
              </a:solidFill>
              <a:latin typeface="Arial"/>
            </a:endParaRPr>
          </a:p>
          <a:p>
            <a:pPr defTabSz="914400">
              <a:lnSpc>
                <a:spcPct val="100000"/>
              </a:lnSpc>
            </a:pPr>
            <a:r>
              <a:rPr b="0" lang="en-US" sz="950" spc="-1" strike="noStrike">
                <a:solidFill>
                  <a:srgbClr val="4a5568"/>
                </a:solidFill>
                <a:latin typeface="Arial"/>
              </a:rPr>
              <a:t>7 upper &amp; 7 lower with 0.89 conf</a:t>
            </a:r>
            <a:endParaRPr b="0" lang="en-US" sz="950" spc="-1" strike="noStrike">
              <a:solidFill>
                <a:srgbClr val="000000"/>
              </a:solidFill>
              <a:latin typeface="Arial"/>
            </a:endParaRPr>
          </a:p>
        </p:txBody>
      </p:sp>
      <p:sp>
        <p:nvSpPr>
          <p:cNvPr id="121" name="Rounded Rectangle 15"/>
          <p:cNvSpPr/>
          <p:nvPr/>
        </p:nvSpPr>
        <p:spPr>
          <a:xfrm>
            <a:off x="8753400" y="4899960"/>
            <a:ext cx="2624040" cy="1098360"/>
          </a:xfrm>
          <a:prstGeom prst="roundRect">
            <a:avLst>
              <a:gd name="adj" fmla="val 16667"/>
            </a:avLst>
          </a:prstGeom>
          <a:solidFill>
            <a:srgbClr val="ffffff"/>
          </a:solidFill>
          <a:ln>
            <a:solidFill>
              <a:srgbClr val="e3e1d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2" name="TextBox 16"/>
          <p:cNvSpPr/>
          <p:nvPr/>
        </p:nvSpPr>
        <p:spPr>
          <a:xfrm>
            <a:off x="8913600" y="5019840"/>
            <a:ext cx="2304000" cy="647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200" spc="-1" strike="noStrike">
                <a:solidFill>
                  <a:srgbClr val="0e8a82"/>
                </a:solidFill>
                <a:latin typeface="Arial"/>
              </a:rPr>
              <a:t>87%</a:t>
            </a:r>
            <a:endParaRPr b="0" lang="en-US" sz="2200" spc="-1" strike="noStrike">
              <a:solidFill>
                <a:srgbClr val="000000"/>
              </a:solidFill>
              <a:latin typeface="Arial"/>
            </a:endParaRPr>
          </a:p>
          <a:p>
            <a:pPr defTabSz="914400">
              <a:lnSpc>
                <a:spcPct val="100000"/>
              </a:lnSpc>
            </a:pPr>
            <a:r>
              <a:rPr b="1" lang="en-US" sz="1100" spc="-1" strike="noStrike">
                <a:solidFill>
                  <a:srgbClr val="101c33"/>
                </a:solidFill>
                <a:latin typeface="Arial"/>
              </a:rPr>
              <a:t>Tracking Stability</a:t>
            </a:r>
            <a:endParaRPr b="0" lang="en-US" sz="1100" spc="-1" strike="noStrike">
              <a:solidFill>
                <a:srgbClr val="000000"/>
              </a:solidFill>
              <a:latin typeface="Arial"/>
            </a:endParaRPr>
          </a:p>
          <a:p>
            <a:pPr defTabSz="914400">
              <a:lnSpc>
                <a:spcPct val="100000"/>
              </a:lnSpc>
            </a:pPr>
            <a:r>
              <a:rPr b="0" lang="en-US" sz="950" spc="-1" strike="noStrike">
                <a:solidFill>
                  <a:srgbClr val="4a5568"/>
                </a:solidFill>
                <a:latin typeface="Arial"/>
              </a:rPr>
              <a:t>ByteTrack + 1-Euro jitter smoothing</a:t>
            </a:r>
            <a:endParaRPr b="0" lang="en-US" sz="950" spc="-1" strike="noStrike">
              <a:solidFill>
                <a:srgbClr val="000000"/>
              </a:solidFill>
              <a:latin typeface="Arial"/>
            </a:endParaRPr>
          </a:p>
        </p:txBody>
      </p:sp>
      <p:sp>
        <p:nvSpPr>
          <p:cNvPr id="123" name="TextBox 17"/>
          <p:cNvSpPr/>
          <p:nvPr/>
        </p:nvSpPr>
        <p:spPr>
          <a:xfrm>
            <a:off x="812880" y="6238080"/>
            <a:ext cx="464580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200" spc="-1" strike="noStrike">
                <a:solidFill>
                  <a:srgbClr val="4a5568"/>
                </a:solidFill>
                <a:latin typeface="Arial"/>
              </a:rPr>
              <a:t>AR Based Dental Imaging and Abnormality Visualization · COD492</a:t>
            </a:r>
            <a:endParaRPr b="0" lang="en-US" sz="1200" spc="-1" strike="noStrike">
              <a:solidFill>
                <a:srgbClr val="000000"/>
              </a:solidFill>
              <a:latin typeface="Arial"/>
            </a:endParaRPr>
          </a:p>
        </p:txBody>
      </p:sp>
      <p:sp>
        <p:nvSpPr>
          <p:cNvPr id="124" name="TextBox 18"/>
          <p:cNvSpPr/>
          <p:nvPr/>
        </p:nvSpPr>
        <p:spPr>
          <a:xfrm>
            <a:off x="10913040" y="6238080"/>
            <a:ext cx="51516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200" spc="-1" strike="noStrike">
                <a:solidFill>
                  <a:srgbClr val="4a5568"/>
                </a:solidFill>
                <a:latin typeface="Arial"/>
              </a:rPr>
              <a:t>07 / 11</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125" name="Text 0"/>
          <p:cNvSpPr/>
          <p:nvPr/>
        </p:nvSpPr>
        <p:spPr>
          <a:xfrm>
            <a:off x="812880" y="812880"/>
            <a:ext cx="108817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86" strike="noStrike">
                <a:solidFill>
                  <a:srgbClr val="0e8a82"/>
                </a:solidFill>
                <a:latin typeface="Arial"/>
                <a:ea typeface="Arial"/>
              </a:rPr>
              <a:t>PROGRESS SO FAR</a:t>
            </a:r>
            <a:endParaRPr b="0" lang="en-US" sz="1400" spc="-1" strike="noStrike">
              <a:solidFill>
                <a:srgbClr val="000000"/>
              </a:solidFill>
              <a:latin typeface="Arial"/>
            </a:endParaRPr>
          </a:p>
        </p:txBody>
      </p:sp>
      <p:sp>
        <p:nvSpPr>
          <p:cNvPr id="126" name="Text 1"/>
          <p:cNvSpPr/>
          <p:nvPr/>
        </p:nvSpPr>
        <p:spPr>
          <a:xfrm>
            <a:off x="812880" y="1137960"/>
            <a:ext cx="10881720" cy="450360"/>
          </a:xfrm>
          <a:prstGeom prst="rect">
            <a:avLst/>
          </a:prstGeom>
          <a:noFill/>
          <a:ln w="0">
            <a:noFill/>
          </a:ln>
        </p:spPr>
        <p:style>
          <a:lnRef idx="0"/>
          <a:fillRef idx="0"/>
          <a:effectRef idx="0"/>
          <a:fontRef idx="minor"/>
        </p:style>
        <p:txBody>
          <a:bodyPr lIns="0" rIns="0" tIns="0" bIns="0" anchor="t">
            <a:normAutofit/>
          </a:bodyPr>
          <a:p>
            <a:pPr defTabSz="914400">
              <a:lnSpc>
                <a:spcPts val="3359"/>
              </a:lnSpc>
              <a:tabLst>
                <a:tab algn="l" pos="0"/>
              </a:tabLst>
            </a:pPr>
            <a:r>
              <a:rPr b="1" lang="en-US" sz="2800" spc="-1" strike="noStrike">
                <a:solidFill>
                  <a:srgbClr val="101c33"/>
                </a:solidFill>
                <a:latin typeface="Georgia"/>
                <a:ea typeface="Georgia"/>
              </a:rPr>
              <a:t>A personal size reference, and a live consistency check</a:t>
            </a:r>
            <a:endParaRPr b="0" lang="en-US" sz="2800" spc="-1" strike="noStrike">
              <a:solidFill>
                <a:srgbClr val="000000"/>
              </a:solidFill>
              <a:latin typeface="Arial"/>
            </a:endParaRPr>
          </a:p>
        </p:txBody>
      </p:sp>
      <p:sp>
        <p:nvSpPr>
          <p:cNvPr id="127" name="Text 2"/>
          <p:cNvSpPr/>
          <p:nvPr/>
        </p:nvSpPr>
        <p:spPr>
          <a:xfrm>
            <a:off x="812880" y="1863000"/>
            <a:ext cx="10881720" cy="25488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0" lang="en-US" sz="1300" spc="-1" strike="noStrike">
                <a:solidFill>
                  <a:srgbClr val="4a5568"/>
                </a:solidFill>
                <a:latin typeface="Arial"/>
                <a:ea typeface="Arial"/>
              </a:rPr>
              <a:t>6 reference photos → 69 teeth measured across 9 distinct tooth positions.</a:t>
            </a:r>
            <a:endParaRPr b="0" lang="en-US" sz="1300" spc="-1" strike="noStrike">
              <a:solidFill>
                <a:srgbClr val="000000"/>
              </a:solidFill>
              <a:latin typeface="Arial"/>
            </a:endParaRPr>
          </a:p>
        </p:txBody>
      </p:sp>
      <p:sp>
        <p:nvSpPr>
          <p:cNvPr id="128" name="Image 0"/>
          <p:cNvSpPr/>
          <p:nvPr/>
        </p:nvSpPr>
        <p:spPr>
          <a:xfrm>
            <a:off x="1634400" y="2399040"/>
            <a:ext cx="3511080" cy="2906640"/>
          </a:xfrm>
          <a:prstGeom prst="roundRect">
            <a:avLst>
              <a:gd name="adj" fmla="val 2838"/>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9" name="Shape 3"/>
          <p:cNvSpPr/>
          <p:nvPr/>
        </p:nvSpPr>
        <p:spPr>
          <a:xfrm>
            <a:off x="1631160" y="2395800"/>
            <a:ext cx="3517560" cy="2912760"/>
          </a:xfrm>
          <a:prstGeom prst="roundRect">
            <a:avLst>
              <a:gd name="adj" fmla="val 2941"/>
            </a:avLst>
          </a:prstGeom>
          <a:noFill/>
          <a:ln w="6350">
            <a:solidFill>
              <a:srgbClr val="101c33"/>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0" name="Text 4"/>
          <p:cNvSpPr/>
          <p:nvPr/>
        </p:nvSpPr>
        <p:spPr>
          <a:xfrm>
            <a:off x="735480" y="5415120"/>
            <a:ext cx="5308920" cy="450360"/>
          </a:xfrm>
          <a:prstGeom prst="rect">
            <a:avLst/>
          </a:prstGeom>
          <a:noFill/>
          <a:ln w="0">
            <a:noFill/>
          </a:ln>
        </p:spPr>
        <p:style>
          <a:lnRef idx="0"/>
          <a:fillRef idx="0"/>
          <a:effectRef idx="0"/>
          <a:fontRef idx="minor"/>
        </p:style>
        <p:txBody>
          <a:bodyPr lIns="0" rIns="0" tIns="0" bIns="0" anchor="t">
            <a:normAutofit/>
          </a:bodyPr>
          <a:p>
            <a:pPr algn="ctr" defTabSz="914400">
              <a:lnSpc>
                <a:spcPts val="1681"/>
              </a:lnSpc>
              <a:tabLst>
                <a:tab algn="l" pos="0"/>
              </a:tabLst>
            </a:pPr>
            <a:r>
              <a:rPr b="0" lang="en-US" sz="1200" spc="-1" strike="noStrike">
                <a:solidFill>
                  <a:srgbClr val="4a5568"/>
                </a:solidFill>
                <a:latin typeface="Arial"/>
                <a:ea typeface="Arial"/>
              </a:rPr>
              <a:t>A few photos at different angles → every tooth measured and stored as your reference size</a:t>
            </a:r>
            <a:endParaRPr b="0" lang="en-US" sz="1200" spc="-1" strike="noStrike">
              <a:solidFill>
                <a:srgbClr val="000000"/>
              </a:solidFill>
              <a:latin typeface="Arial"/>
            </a:endParaRPr>
          </a:p>
        </p:txBody>
      </p:sp>
      <p:sp>
        <p:nvSpPr>
          <p:cNvPr id="131" name="Image 1"/>
          <p:cNvSpPr/>
          <p:nvPr/>
        </p:nvSpPr>
        <p:spPr>
          <a:xfrm>
            <a:off x="7369200" y="2399040"/>
            <a:ext cx="2861640" cy="2906640"/>
          </a:xfrm>
          <a:prstGeom prst="roundRect">
            <a:avLst>
              <a:gd name="adj" fmla="val 2883"/>
            </a:avLst>
          </a:pr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2" name="Shape 5"/>
          <p:cNvSpPr/>
          <p:nvPr/>
        </p:nvSpPr>
        <p:spPr>
          <a:xfrm>
            <a:off x="7365960" y="2395800"/>
            <a:ext cx="2868120" cy="2912760"/>
          </a:xfrm>
          <a:prstGeom prst="roundRect">
            <a:avLst>
              <a:gd name="adj" fmla="val 2987"/>
            </a:avLst>
          </a:prstGeom>
          <a:noFill/>
          <a:ln w="6350">
            <a:solidFill>
              <a:srgbClr val="101c33"/>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3" name="Text 6"/>
          <p:cNvSpPr/>
          <p:nvPr/>
        </p:nvSpPr>
        <p:spPr>
          <a:xfrm>
            <a:off x="6519600" y="5415120"/>
            <a:ext cx="4560840" cy="236880"/>
          </a:xfrm>
          <a:prstGeom prst="rect">
            <a:avLst/>
          </a:prstGeom>
          <a:noFill/>
          <a:ln w="0">
            <a:noFill/>
          </a:ln>
        </p:spPr>
        <p:style>
          <a:lnRef idx="0"/>
          <a:fillRef idx="0"/>
          <a:effectRef idx="0"/>
          <a:fontRef idx="minor"/>
        </p:style>
        <p:txBody>
          <a:bodyPr lIns="0" rIns="0" tIns="0" bIns="0" anchor="t">
            <a:normAutofit/>
          </a:bodyPr>
          <a:p>
            <a:pPr algn="ctr" defTabSz="914400">
              <a:lnSpc>
                <a:spcPts val="1681"/>
              </a:lnSpc>
              <a:tabLst>
                <a:tab algn="l" pos="0"/>
              </a:tabLst>
            </a:pPr>
            <a:r>
              <a:rPr b="0" lang="en-US" sz="1200" spc="-1" strike="noStrike">
                <a:solidFill>
                  <a:srgbClr val="4a5568"/>
                </a:solidFill>
                <a:latin typeface="Arial"/>
                <a:ea typeface="Arial"/>
              </a:rPr>
              <a:t>The live camera compared against that reference, frame by frame</a:t>
            </a:r>
            <a:endParaRPr b="0" lang="en-US" sz="1200" spc="-1" strike="noStrike">
              <a:solidFill>
                <a:srgbClr val="000000"/>
              </a:solidFill>
              <a:latin typeface="Arial"/>
            </a:endParaRPr>
          </a:p>
        </p:txBody>
      </p:sp>
      <p:sp>
        <p:nvSpPr>
          <p:cNvPr id="134" name="Text 7"/>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135" name="Text 8"/>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08 / 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136" name="Text 0"/>
          <p:cNvSpPr/>
          <p:nvPr/>
        </p:nvSpPr>
        <p:spPr>
          <a:xfrm>
            <a:off x="812880" y="812880"/>
            <a:ext cx="10881720" cy="266400"/>
          </a:xfrm>
          <a:prstGeom prst="rect">
            <a:avLst/>
          </a:prstGeom>
          <a:noFill/>
          <a:ln w="0">
            <a:noFill/>
          </a:ln>
        </p:spPr>
        <p:style>
          <a:lnRef idx="0"/>
          <a:fillRef idx="0"/>
          <a:effectRef idx="0"/>
          <a:fontRef idx="minor"/>
        </p:style>
        <p:txBody>
          <a:bodyPr lIns="0" rIns="0" tIns="0" bIns="0" anchor="t">
            <a:normAutofit/>
          </a:bodyPr>
          <a:p>
            <a:pPr defTabSz="914400">
              <a:lnSpc>
                <a:spcPts val="1922"/>
              </a:lnSpc>
              <a:tabLst>
                <a:tab algn="l" pos="0"/>
              </a:tabLst>
            </a:pPr>
            <a:r>
              <a:rPr b="1" lang="en-US" sz="1370" spc="86" strike="noStrike">
                <a:solidFill>
                  <a:srgbClr val="0e8a82"/>
                </a:solidFill>
                <a:latin typeface="Arial"/>
                <a:ea typeface="Arial"/>
              </a:rPr>
              <a:t>PROGRESS SO FAR</a:t>
            </a:r>
            <a:endParaRPr b="0" lang="en-US" sz="1370" spc="-1" strike="noStrike">
              <a:solidFill>
                <a:srgbClr val="000000"/>
              </a:solidFill>
              <a:latin typeface="Arial"/>
            </a:endParaRPr>
          </a:p>
        </p:txBody>
      </p:sp>
      <p:sp>
        <p:nvSpPr>
          <p:cNvPr id="137" name="Text 1"/>
          <p:cNvSpPr/>
          <p:nvPr/>
        </p:nvSpPr>
        <p:spPr>
          <a:xfrm>
            <a:off x="812880" y="1106280"/>
            <a:ext cx="10881720" cy="380520"/>
          </a:xfrm>
          <a:prstGeom prst="rect">
            <a:avLst/>
          </a:prstGeom>
          <a:noFill/>
          <a:ln w="0">
            <a:noFill/>
          </a:ln>
        </p:spPr>
        <p:style>
          <a:lnRef idx="0"/>
          <a:fillRef idx="0"/>
          <a:effectRef idx="0"/>
          <a:fontRef idx="minor"/>
        </p:style>
        <p:txBody>
          <a:bodyPr lIns="0" rIns="0" tIns="0" bIns="0" anchor="t">
            <a:normAutofit/>
          </a:bodyPr>
          <a:p>
            <a:pPr defTabSz="914400">
              <a:lnSpc>
                <a:spcPts val="2818"/>
              </a:lnSpc>
              <a:tabLst>
                <a:tab algn="l" pos="0"/>
              </a:tabLst>
            </a:pPr>
            <a:r>
              <a:rPr b="1" lang="en-US" sz="2350" spc="-1" strike="noStrike">
                <a:solidFill>
                  <a:srgbClr val="101c33"/>
                </a:solidFill>
                <a:latin typeface="Georgia"/>
                <a:ea typeface="Georgia"/>
              </a:rPr>
              <a:t>Checked against hand-measured ground truth</a:t>
            </a:r>
            <a:endParaRPr b="0" lang="en-US" sz="2350" spc="-1" strike="noStrike">
              <a:solidFill>
                <a:srgbClr val="000000"/>
              </a:solidFill>
              <a:latin typeface="Arial"/>
            </a:endParaRPr>
          </a:p>
        </p:txBody>
      </p:sp>
      <p:sp>
        <p:nvSpPr>
          <p:cNvPr id="138" name="Image 0"/>
          <p:cNvSpPr/>
          <p:nvPr/>
        </p:nvSpPr>
        <p:spPr>
          <a:xfrm>
            <a:off x="918360" y="1624320"/>
            <a:ext cx="1945800" cy="3541680"/>
          </a:xfrm>
          <a:prstGeom prst="roundRect">
            <a:avLst>
              <a:gd name="adj" fmla="val 4238"/>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9" name="Shape 2"/>
          <p:cNvSpPr/>
          <p:nvPr/>
        </p:nvSpPr>
        <p:spPr>
          <a:xfrm>
            <a:off x="915120" y="1621440"/>
            <a:ext cx="1952280" cy="3547800"/>
          </a:xfrm>
          <a:prstGeom prst="roundRect">
            <a:avLst>
              <a:gd name="adj" fmla="val 4387"/>
            </a:avLst>
          </a:prstGeom>
          <a:noFill/>
          <a:ln w="6350">
            <a:solidFill>
              <a:srgbClr val="101c33"/>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0" name="Text 3"/>
          <p:cNvSpPr/>
          <p:nvPr/>
        </p:nvSpPr>
        <p:spPr>
          <a:xfrm>
            <a:off x="780480" y="5250240"/>
            <a:ext cx="2221920" cy="663840"/>
          </a:xfrm>
          <a:prstGeom prst="rect">
            <a:avLst/>
          </a:prstGeom>
          <a:noFill/>
          <a:ln w="0">
            <a:noFill/>
          </a:ln>
        </p:spPr>
        <p:style>
          <a:lnRef idx="0"/>
          <a:fillRef idx="0"/>
          <a:effectRef idx="0"/>
          <a:fontRef idx="minor"/>
        </p:style>
        <p:txBody>
          <a:bodyPr lIns="0" rIns="0" tIns="0" bIns="0" anchor="t">
            <a:normAutofit/>
          </a:bodyPr>
          <a:p>
            <a:pPr algn="ctr" defTabSz="914400">
              <a:lnSpc>
                <a:spcPts val="1681"/>
              </a:lnSpc>
              <a:tabLst>
                <a:tab algn="l" pos="0"/>
              </a:tabLst>
            </a:pPr>
            <a:r>
              <a:rPr b="0" lang="en-US" sz="1200" spc="-1" strike="noStrike">
                <a:solidFill>
                  <a:srgbClr val="4a5568"/>
                </a:solidFill>
                <a:latin typeface="Arial"/>
                <a:ea typeface="Arial"/>
              </a:rPr>
              <a:t>Model — automatic detection, scaled from average tooth width</a:t>
            </a:r>
            <a:endParaRPr b="0" lang="en-US" sz="1200" spc="-1" strike="noStrike">
              <a:solidFill>
                <a:srgbClr val="000000"/>
              </a:solidFill>
              <a:latin typeface="Arial"/>
            </a:endParaRPr>
          </a:p>
        </p:txBody>
      </p:sp>
      <p:pic>
        <p:nvPicPr>
          <p:cNvPr id="141" name="Image 1" descr="ellipse"/>
          <p:cNvPicPr/>
          <p:nvPr/>
        </p:nvPicPr>
        <p:blipFill>
          <a:blip r:embed="rId2"/>
          <a:stretch/>
        </p:blipFill>
        <p:spPr>
          <a:xfrm>
            <a:off x="3225960" y="3180240"/>
            <a:ext cx="61920" cy="87120"/>
          </a:xfrm>
          <a:prstGeom prst="rect">
            <a:avLst/>
          </a:prstGeom>
          <a:ln w="0">
            <a:noFill/>
          </a:ln>
        </p:spPr>
      </p:pic>
      <p:sp>
        <p:nvSpPr>
          <p:cNvPr id="142" name="Text 4"/>
          <p:cNvSpPr/>
          <p:nvPr/>
        </p:nvSpPr>
        <p:spPr>
          <a:xfrm>
            <a:off x="3390840" y="3180240"/>
            <a:ext cx="5740560" cy="52128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Widths agree closely on most teeth — typically within about 1 mm of the hand-drawn measurement</a:t>
            </a:r>
            <a:endParaRPr b="0" lang="en-US" sz="1400" spc="-1" strike="noStrike">
              <a:solidFill>
                <a:srgbClr val="000000"/>
              </a:solidFill>
              <a:latin typeface="Arial"/>
            </a:endParaRPr>
          </a:p>
        </p:txBody>
      </p:sp>
      <p:pic>
        <p:nvPicPr>
          <p:cNvPr id="143" name="Image 2" descr="ellipse"/>
          <p:cNvPicPr/>
          <p:nvPr/>
        </p:nvPicPr>
        <p:blipFill>
          <a:blip r:embed="rId3"/>
          <a:srcRect l="-262" t="0" r="-262" b="0"/>
          <a:stretch/>
        </p:blipFill>
        <p:spPr>
          <a:xfrm>
            <a:off x="3225960" y="3830400"/>
            <a:ext cx="55800" cy="87120"/>
          </a:xfrm>
          <a:prstGeom prst="rect">
            <a:avLst/>
          </a:prstGeom>
          <a:ln w="0">
            <a:noFill/>
          </a:ln>
        </p:spPr>
      </p:pic>
      <p:sp>
        <p:nvSpPr>
          <p:cNvPr id="144" name="Text 5"/>
          <p:cNvSpPr/>
          <p:nvPr/>
        </p:nvSpPr>
        <p:spPr>
          <a:xfrm>
            <a:off x="3385080" y="3830400"/>
            <a:ext cx="5747040" cy="52128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Heights diverge more on some teeth — the close-up crop cuts incisor tips, a known limitation, not hidden here</a:t>
            </a:r>
            <a:endParaRPr b="0" lang="en-US" sz="1400" spc="-1" strike="noStrike">
              <a:solidFill>
                <a:srgbClr val="000000"/>
              </a:solidFill>
              <a:latin typeface="Arial"/>
            </a:endParaRPr>
          </a:p>
        </p:txBody>
      </p:sp>
      <p:sp>
        <p:nvSpPr>
          <p:cNvPr id="145" name="Image 3"/>
          <p:cNvSpPr/>
          <p:nvPr/>
        </p:nvSpPr>
        <p:spPr>
          <a:xfrm>
            <a:off x="9326520" y="1731240"/>
            <a:ext cx="1944720" cy="3541680"/>
          </a:xfrm>
          <a:prstGeom prst="roundRect">
            <a:avLst>
              <a:gd name="adj" fmla="val 4241"/>
            </a:avLst>
          </a:pr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6" name="Shape 6"/>
          <p:cNvSpPr/>
          <p:nvPr/>
        </p:nvSpPr>
        <p:spPr>
          <a:xfrm>
            <a:off x="9323280" y="1728000"/>
            <a:ext cx="1951200" cy="3547800"/>
          </a:xfrm>
          <a:prstGeom prst="roundRect">
            <a:avLst>
              <a:gd name="adj" fmla="val 4389"/>
            </a:avLst>
          </a:prstGeom>
          <a:noFill/>
          <a:ln w="6350">
            <a:solidFill>
              <a:srgbClr val="101c33"/>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7" name="Text 7"/>
          <p:cNvSpPr/>
          <p:nvPr/>
        </p:nvSpPr>
        <p:spPr>
          <a:xfrm>
            <a:off x="9187920" y="5356800"/>
            <a:ext cx="2221920" cy="450360"/>
          </a:xfrm>
          <a:prstGeom prst="rect">
            <a:avLst/>
          </a:prstGeom>
          <a:noFill/>
          <a:ln w="0">
            <a:noFill/>
          </a:ln>
        </p:spPr>
        <p:style>
          <a:lnRef idx="0"/>
          <a:fillRef idx="0"/>
          <a:effectRef idx="0"/>
          <a:fontRef idx="minor"/>
        </p:style>
        <p:txBody>
          <a:bodyPr lIns="0" rIns="0" tIns="0" bIns="0" anchor="t">
            <a:normAutofit/>
          </a:bodyPr>
          <a:p>
            <a:pPr algn="ctr" defTabSz="914400">
              <a:lnSpc>
                <a:spcPts val="1681"/>
              </a:lnSpc>
              <a:tabLst>
                <a:tab algn="l" pos="0"/>
              </a:tabLst>
            </a:pPr>
            <a:r>
              <a:rPr b="0" lang="en-US" sz="1200" spc="-1" strike="noStrike">
                <a:solidFill>
                  <a:srgbClr val="4a5568"/>
                </a:solidFill>
                <a:latin typeface="Arial"/>
                <a:ea typeface="Arial"/>
              </a:rPr>
              <a:t>Hand-drawn boxes, measured manually as ground truth</a:t>
            </a:r>
            <a:endParaRPr b="0" lang="en-US" sz="1200" spc="-1" strike="noStrike">
              <a:solidFill>
                <a:srgbClr val="000000"/>
              </a:solidFill>
              <a:latin typeface="Arial"/>
            </a:endParaRPr>
          </a:p>
        </p:txBody>
      </p:sp>
      <p:sp>
        <p:nvSpPr>
          <p:cNvPr id="148" name="Text 8"/>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149" name="Text 9"/>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09 / 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150" name="Text 0"/>
          <p:cNvSpPr/>
          <p:nvPr/>
        </p:nvSpPr>
        <p:spPr>
          <a:xfrm>
            <a:off x="812880" y="812880"/>
            <a:ext cx="108817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86" strike="noStrike">
                <a:solidFill>
                  <a:srgbClr val="0e8a82"/>
                </a:solidFill>
                <a:latin typeface="Arial"/>
                <a:ea typeface="Arial"/>
              </a:rPr>
              <a:t>DELIVERABLE</a:t>
            </a:r>
            <a:endParaRPr b="0" lang="en-US" sz="1400" spc="-1" strike="noStrike">
              <a:solidFill>
                <a:srgbClr val="000000"/>
              </a:solidFill>
              <a:latin typeface="Arial"/>
            </a:endParaRPr>
          </a:p>
        </p:txBody>
      </p:sp>
      <p:sp>
        <p:nvSpPr>
          <p:cNvPr id="151" name="Text 1"/>
          <p:cNvSpPr/>
          <p:nvPr/>
        </p:nvSpPr>
        <p:spPr>
          <a:xfrm>
            <a:off x="812880" y="1137960"/>
            <a:ext cx="10881720" cy="450360"/>
          </a:xfrm>
          <a:prstGeom prst="rect">
            <a:avLst/>
          </a:prstGeom>
          <a:noFill/>
          <a:ln w="0">
            <a:noFill/>
          </a:ln>
        </p:spPr>
        <p:style>
          <a:lnRef idx="0"/>
          <a:fillRef idx="0"/>
          <a:effectRef idx="0"/>
          <a:fontRef idx="minor"/>
        </p:style>
        <p:txBody>
          <a:bodyPr lIns="0" rIns="0" tIns="0" bIns="0" anchor="t">
            <a:normAutofit/>
          </a:bodyPr>
          <a:p>
            <a:pPr defTabSz="914400">
              <a:lnSpc>
                <a:spcPts val="3359"/>
              </a:lnSpc>
              <a:tabLst>
                <a:tab algn="l" pos="0"/>
              </a:tabLst>
            </a:pPr>
            <a:r>
              <a:rPr b="1" lang="en-US" sz="2800" spc="-1" strike="noStrike">
                <a:solidFill>
                  <a:srgbClr val="101c33"/>
                </a:solidFill>
                <a:latin typeface="Georgia"/>
                <a:ea typeface="Georgia"/>
              </a:rPr>
              <a:t>What ships at the end of the semester</a:t>
            </a:r>
            <a:endParaRPr b="0" lang="en-US" sz="2800" spc="-1" strike="noStrike">
              <a:solidFill>
                <a:srgbClr val="000000"/>
              </a:solidFill>
              <a:latin typeface="Arial"/>
            </a:endParaRPr>
          </a:p>
        </p:txBody>
      </p:sp>
      <p:sp>
        <p:nvSpPr>
          <p:cNvPr id="152" name="Shape 2"/>
          <p:cNvSpPr/>
          <p:nvPr/>
        </p:nvSpPr>
        <p:spPr>
          <a:xfrm>
            <a:off x="816120" y="3035520"/>
            <a:ext cx="10558080" cy="2801520"/>
          </a:xfrm>
          <a:prstGeom prst="roundRect">
            <a:avLst>
              <a:gd name="adj" fmla="val 3511"/>
            </a:avLst>
          </a:prstGeom>
          <a:solidFill>
            <a:srgbClr val="ffffff"/>
          </a:solidFill>
          <a:ln w="6350">
            <a:solidFill>
              <a:srgbClr val="e3e1d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chemeClr val="dk1"/>
              </a:solidFill>
              <a:latin typeface="Calibri"/>
            </a:endParaRPr>
          </a:p>
        </p:txBody>
      </p:sp>
      <p:pic>
        <p:nvPicPr>
          <p:cNvPr id="153" name="Image 0" descr="CheckCircle"/>
          <p:cNvPicPr/>
          <p:nvPr/>
        </p:nvPicPr>
        <p:blipFill>
          <a:blip r:embed="rId1"/>
          <a:stretch/>
        </p:blipFill>
        <p:spPr>
          <a:xfrm>
            <a:off x="1121760" y="3341160"/>
            <a:ext cx="201240" cy="201240"/>
          </a:xfrm>
          <a:prstGeom prst="rect">
            <a:avLst/>
          </a:prstGeom>
          <a:ln w="0">
            <a:noFill/>
          </a:ln>
        </p:spPr>
      </p:pic>
      <p:sp>
        <p:nvSpPr>
          <p:cNvPr id="154" name="Text 3"/>
          <p:cNvSpPr/>
          <p:nvPr/>
        </p:nvSpPr>
        <p:spPr>
          <a:xfrm>
            <a:off x="1439280" y="3341160"/>
            <a:ext cx="71323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Real-time, on-device detection and tracking of every visible tooth, across viewing angles</a:t>
            </a:r>
            <a:endParaRPr b="0" lang="en-US" sz="1400" spc="-1" strike="noStrike">
              <a:solidFill>
                <a:srgbClr val="000000"/>
              </a:solidFill>
              <a:latin typeface="Arial"/>
            </a:endParaRPr>
          </a:p>
        </p:txBody>
      </p:sp>
      <p:pic>
        <p:nvPicPr>
          <p:cNvPr id="155" name="Image 1" descr="CheckCircle"/>
          <p:cNvPicPr/>
          <p:nvPr/>
        </p:nvPicPr>
        <p:blipFill>
          <a:blip r:embed="rId2"/>
          <a:stretch/>
        </p:blipFill>
        <p:spPr>
          <a:xfrm>
            <a:off x="1121760" y="3729600"/>
            <a:ext cx="201240" cy="201240"/>
          </a:xfrm>
          <a:prstGeom prst="rect">
            <a:avLst/>
          </a:prstGeom>
          <a:ln w="0">
            <a:noFill/>
          </a:ln>
        </p:spPr>
      </p:pic>
      <p:sp>
        <p:nvSpPr>
          <p:cNvPr id="156" name="Text 4"/>
          <p:cNvSpPr/>
          <p:nvPr/>
        </p:nvSpPr>
        <p:spPr>
          <a:xfrm>
            <a:off x="1439280" y="3729600"/>
            <a:ext cx="785484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A personal tooth-size reference from a few calibration photos, plus a live consistency comparison</a:t>
            </a:r>
            <a:endParaRPr b="0" lang="en-US" sz="1400" spc="-1" strike="noStrike">
              <a:solidFill>
                <a:srgbClr val="000000"/>
              </a:solidFill>
              <a:latin typeface="Arial"/>
            </a:endParaRPr>
          </a:p>
        </p:txBody>
      </p:sp>
      <p:pic>
        <p:nvPicPr>
          <p:cNvPr id="157" name="Image 2" descr="CheckCircle"/>
          <p:cNvPicPr/>
          <p:nvPr/>
        </p:nvPicPr>
        <p:blipFill>
          <a:blip r:embed="rId3"/>
          <a:stretch/>
        </p:blipFill>
        <p:spPr>
          <a:xfrm>
            <a:off x="1121760" y="4118400"/>
            <a:ext cx="201240" cy="201240"/>
          </a:xfrm>
          <a:prstGeom prst="rect">
            <a:avLst/>
          </a:prstGeom>
          <a:ln w="0">
            <a:noFill/>
          </a:ln>
        </p:spPr>
      </p:pic>
      <p:sp>
        <p:nvSpPr>
          <p:cNvPr id="158" name="Text 5"/>
          <p:cNvSpPr/>
          <p:nvPr/>
        </p:nvSpPr>
        <p:spPr>
          <a:xfrm>
            <a:off x="1439280" y="4118400"/>
            <a:ext cx="817020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A documented, reproducible accuracy evaluation — precision, recall, F1, IoU — not unverified claims</a:t>
            </a:r>
            <a:endParaRPr b="0" lang="en-US" sz="1400" spc="-1" strike="noStrike">
              <a:solidFill>
                <a:srgbClr val="000000"/>
              </a:solidFill>
              <a:latin typeface="Arial"/>
            </a:endParaRPr>
          </a:p>
        </p:txBody>
      </p:sp>
      <p:pic>
        <p:nvPicPr>
          <p:cNvPr id="159" name="Image 3" descr="CheckCircle"/>
          <p:cNvPicPr/>
          <p:nvPr/>
        </p:nvPicPr>
        <p:blipFill>
          <a:blip r:embed="rId4"/>
          <a:stretch/>
        </p:blipFill>
        <p:spPr>
          <a:xfrm>
            <a:off x="1121760" y="4506840"/>
            <a:ext cx="201240" cy="201240"/>
          </a:xfrm>
          <a:prstGeom prst="rect">
            <a:avLst/>
          </a:prstGeom>
          <a:ln w="0">
            <a:noFill/>
          </a:ln>
        </p:spPr>
      </p:pic>
      <p:sp>
        <p:nvSpPr>
          <p:cNvPr id="160" name="Text 6"/>
          <p:cNvSpPr/>
          <p:nvPr/>
        </p:nvSpPr>
        <p:spPr>
          <a:xfrm>
            <a:off x="1439280" y="4506840"/>
            <a:ext cx="751968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A defined interface mapping an external per-tooth result onto a tracked tooth, rendered in AR</a:t>
            </a:r>
            <a:endParaRPr b="0" lang="en-US" sz="1400" spc="-1" strike="noStrike">
              <a:solidFill>
                <a:srgbClr val="000000"/>
              </a:solidFill>
              <a:latin typeface="Arial"/>
            </a:endParaRPr>
          </a:p>
        </p:txBody>
      </p:sp>
      <p:pic>
        <p:nvPicPr>
          <p:cNvPr id="161" name="Image 4" descr="CheckCircle"/>
          <p:cNvPicPr/>
          <p:nvPr/>
        </p:nvPicPr>
        <p:blipFill>
          <a:blip r:embed="rId5"/>
          <a:stretch/>
        </p:blipFill>
        <p:spPr>
          <a:xfrm>
            <a:off x="1121760" y="4895640"/>
            <a:ext cx="201240" cy="201240"/>
          </a:xfrm>
          <a:prstGeom prst="rect">
            <a:avLst/>
          </a:prstGeom>
          <a:ln w="0">
            <a:noFill/>
          </a:ln>
        </p:spPr>
      </p:pic>
      <p:sp>
        <p:nvSpPr>
          <p:cNvPr id="162" name="Text 7"/>
          <p:cNvSpPr/>
          <p:nvPr/>
        </p:nvSpPr>
        <p:spPr>
          <a:xfrm>
            <a:off x="1439280" y="4895640"/>
            <a:ext cx="463896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clinical diagnosis, or disease / cavity / nerve classification</a:t>
            </a:r>
            <a:endParaRPr b="0" lang="en-US" sz="1400" spc="-1" strike="noStrike">
              <a:solidFill>
                <a:srgbClr val="000000"/>
              </a:solidFill>
              <a:latin typeface="Arial"/>
            </a:endParaRPr>
          </a:p>
        </p:txBody>
      </p:sp>
      <p:pic>
        <p:nvPicPr>
          <p:cNvPr id="163" name="Image 5" descr="CheckCircle"/>
          <p:cNvPicPr/>
          <p:nvPr/>
        </p:nvPicPr>
        <p:blipFill>
          <a:blip r:embed="rId6"/>
          <a:stretch/>
        </p:blipFill>
        <p:spPr>
          <a:xfrm>
            <a:off x="1121760" y="5284440"/>
            <a:ext cx="201240" cy="201240"/>
          </a:xfrm>
          <a:prstGeom prst="rect">
            <a:avLst/>
          </a:prstGeom>
          <a:ln w="0">
            <a:noFill/>
          </a:ln>
        </p:spPr>
      </p:pic>
      <p:sp>
        <p:nvSpPr>
          <p:cNvPr id="164" name="Text 8"/>
          <p:cNvSpPr/>
          <p:nvPr/>
        </p:nvSpPr>
        <p:spPr>
          <a:xfrm>
            <a:off x="1439280" y="5284440"/>
            <a:ext cx="41605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0" lang="en-US" sz="1400" spc="-1" strike="noStrike">
                <a:solidFill>
                  <a:srgbClr val="333b47"/>
                </a:solidFill>
                <a:latin typeface="Arial"/>
                <a:ea typeface="Arial"/>
              </a:rPr>
              <a:t>any image or camera frame ever leaving the device</a:t>
            </a:r>
            <a:endParaRPr b="0" lang="en-US" sz="1400" spc="-1" strike="noStrike">
              <a:solidFill>
                <a:srgbClr val="000000"/>
              </a:solidFill>
              <a:latin typeface="Arial"/>
            </a:endParaRPr>
          </a:p>
        </p:txBody>
      </p:sp>
      <p:sp>
        <p:nvSpPr>
          <p:cNvPr id="165" name="Text 9"/>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166" name="Text 10"/>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10 / 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5"/>
        </a:solidFill>
      </p:bgPr>
    </p:bg>
    <p:spTree>
      <p:nvGrpSpPr>
        <p:cNvPr id="1" name=""/>
        <p:cNvGrpSpPr/>
        <p:nvPr/>
      </p:nvGrpSpPr>
      <p:grpSpPr>
        <a:xfrm>
          <a:off x="0" y="0"/>
          <a:ext cx="0" cy="0"/>
          <a:chOff x="0" y="0"/>
          <a:chExt cx="0" cy="0"/>
        </a:xfrm>
      </p:grpSpPr>
      <p:sp>
        <p:nvSpPr>
          <p:cNvPr id="167" name="Text 0"/>
          <p:cNvSpPr/>
          <p:nvPr/>
        </p:nvSpPr>
        <p:spPr>
          <a:xfrm>
            <a:off x="812880" y="812880"/>
            <a:ext cx="10881720" cy="272520"/>
          </a:xfrm>
          <a:prstGeom prst="rect">
            <a:avLst/>
          </a:prstGeom>
          <a:noFill/>
          <a:ln w="0">
            <a:noFill/>
          </a:ln>
        </p:spPr>
        <p:style>
          <a:lnRef idx="0"/>
          <a:fillRef idx="0"/>
          <a:effectRef idx="0"/>
          <a:fontRef idx="minor"/>
        </p:style>
        <p:txBody>
          <a:bodyPr lIns="0" rIns="0" tIns="0" bIns="0" anchor="t">
            <a:normAutofit/>
          </a:bodyPr>
          <a:p>
            <a:pPr defTabSz="914400">
              <a:lnSpc>
                <a:spcPts val="1959"/>
              </a:lnSpc>
              <a:tabLst>
                <a:tab algn="l" pos="0"/>
              </a:tabLst>
            </a:pPr>
            <a:r>
              <a:rPr b="1" lang="en-US" sz="1400" spc="86" strike="noStrike">
                <a:solidFill>
                  <a:srgbClr val="0e8a82"/>
                </a:solidFill>
                <a:latin typeface="Arial"/>
                <a:ea typeface="Arial"/>
              </a:rPr>
              <a:t>PLAN</a:t>
            </a:r>
            <a:endParaRPr b="0" lang="en-US" sz="1400" spc="-1" strike="noStrike">
              <a:solidFill>
                <a:srgbClr val="000000"/>
              </a:solidFill>
              <a:latin typeface="Arial"/>
            </a:endParaRPr>
          </a:p>
        </p:txBody>
      </p:sp>
      <p:sp>
        <p:nvSpPr>
          <p:cNvPr id="168" name="Text 1"/>
          <p:cNvSpPr/>
          <p:nvPr/>
        </p:nvSpPr>
        <p:spPr>
          <a:xfrm>
            <a:off x="812880" y="1137960"/>
            <a:ext cx="10881720" cy="450360"/>
          </a:xfrm>
          <a:prstGeom prst="rect">
            <a:avLst/>
          </a:prstGeom>
          <a:noFill/>
          <a:ln w="0">
            <a:noFill/>
          </a:ln>
        </p:spPr>
        <p:style>
          <a:lnRef idx="0"/>
          <a:fillRef idx="0"/>
          <a:effectRef idx="0"/>
          <a:fontRef idx="minor"/>
        </p:style>
        <p:txBody>
          <a:bodyPr lIns="0" rIns="0" tIns="0" bIns="0" anchor="t">
            <a:normAutofit/>
          </a:bodyPr>
          <a:p>
            <a:pPr defTabSz="914400">
              <a:lnSpc>
                <a:spcPts val="3359"/>
              </a:lnSpc>
              <a:tabLst>
                <a:tab algn="l" pos="0"/>
              </a:tabLst>
            </a:pPr>
            <a:r>
              <a:rPr b="1" lang="en-US" sz="2800" spc="-1" strike="noStrike">
                <a:solidFill>
                  <a:srgbClr val="101c33"/>
                </a:solidFill>
                <a:latin typeface="Georgia"/>
                <a:ea typeface="Georgia"/>
              </a:rPr>
              <a:t>What can be done</a:t>
            </a:r>
            <a:endParaRPr b="0" lang="en-US" sz="2800" spc="-1" strike="noStrike">
              <a:solidFill>
                <a:srgbClr val="000000"/>
              </a:solidFill>
              <a:latin typeface="Arial"/>
            </a:endParaRPr>
          </a:p>
        </p:txBody>
      </p:sp>
      <p:sp>
        <p:nvSpPr>
          <p:cNvPr id="169" name="Shape 2"/>
          <p:cNvSpPr/>
          <p:nvPr/>
        </p:nvSpPr>
        <p:spPr>
          <a:xfrm>
            <a:off x="812880" y="2590920"/>
            <a:ext cx="404640" cy="404640"/>
          </a:xfrm>
          <a:prstGeom prst="roundRect">
            <a:avLst>
              <a:gd name="adj" fmla="val 50000"/>
            </a:avLst>
          </a:prstGeom>
          <a:solidFill>
            <a:srgbClr val="0e8a8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chemeClr val="dk1"/>
              </a:solidFill>
              <a:latin typeface="Calibri"/>
            </a:endParaRPr>
          </a:p>
        </p:txBody>
      </p:sp>
      <p:sp>
        <p:nvSpPr>
          <p:cNvPr id="170" name="Text 3"/>
          <p:cNvSpPr/>
          <p:nvPr/>
        </p:nvSpPr>
        <p:spPr>
          <a:xfrm>
            <a:off x="937440" y="2660760"/>
            <a:ext cx="154800" cy="290160"/>
          </a:xfrm>
          <a:prstGeom prst="rect">
            <a:avLst/>
          </a:prstGeom>
          <a:noFill/>
          <a:ln w="0">
            <a:noFill/>
          </a:ln>
        </p:spPr>
        <p:style>
          <a:lnRef idx="0"/>
          <a:fillRef idx="0"/>
          <a:effectRef idx="0"/>
          <a:fontRef idx="minor"/>
        </p:style>
        <p:txBody>
          <a:bodyPr lIns="0" rIns="0" tIns="0" bIns="0" anchor="t">
            <a:normAutofit/>
          </a:bodyPr>
          <a:p>
            <a:pPr algn="ctr" defTabSz="914400">
              <a:lnSpc>
                <a:spcPts val="2100"/>
              </a:lnSpc>
              <a:tabLst>
                <a:tab algn="l" pos="0"/>
              </a:tabLst>
            </a:pPr>
            <a:r>
              <a:rPr b="1" lang="en-US" sz="1500" spc="-1" strike="noStrike">
                <a:solidFill>
                  <a:srgbClr val="faf9f5"/>
                </a:solidFill>
                <a:latin typeface="Arial"/>
                <a:ea typeface="Arial"/>
              </a:rPr>
              <a:t>1</a:t>
            </a:r>
            <a:endParaRPr b="0" lang="en-US" sz="1500" spc="-1" strike="noStrike">
              <a:solidFill>
                <a:srgbClr val="000000"/>
              </a:solidFill>
              <a:latin typeface="Arial"/>
            </a:endParaRPr>
          </a:p>
        </p:txBody>
      </p:sp>
      <p:sp>
        <p:nvSpPr>
          <p:cNvPr id="171" name="Text 4"/>
          <p:cNvSpPr/>
          <p:nvPr/>
        </p:nvSpPr>
        <p:spPr>
          <a:xfrm>
            <a:off x="1371600" y="2509560"/>
            <a:ext cx="9482040" cy="592560"/>
          </a:xfrm>
          <a:prstGeom prst="rect">
            <a:avLst/>
          </a:prstGeom>
          <a:noFill/>
          <a:ln w="0">
            <a:noFill/>
          </a:ln>
        </p:spPr>
        <p:style>
          <a:lnRef idx="0"/>
          <a:fillRef idx="0"/>
          <a:effectRef idx="0"/>
          <a:fontRef idx="minor"/>
        </p:style>
        <p:txBody>
          <a:bodyPr lIns="0" rIns="0" tIns="0" bIns="0" anchor="t">
            <a:normAutofit/>
          </a:bodyPr>
          <a:p>
            <a:pPr defTabSz="914400">
              <a:lnSpc>
                <a:spcPts val="2239"/>
              </a:lnSpc>
              <a:tabLst>
                <a:tab algn="l" pos="0"/>
              </a:tabLst>
            </a:pPr>
            <a:r>
              <a:rPr b="0" lang="en-US" sz="1600" spc="-1" strike="noStrike">
                <a:solidFill>
                  <a:srgbClr val="1e2430"/>
                </a:solidFill>
                <a:latin typeface="Arial"/>
                <a:ea typeface="Arial"/>
              </a:rPr>
              <a:t>Close the live molar/premolar gap — apply the close-up sweep's lessons to full video, not just calibration photos</a:t>
            </a:r>
            <a:endParaRPr b="0" lang="en-US" sz="1600" spc="-1" strike="noStrike">
              <a:solidFill>
                <a:srgbClr val="000000"/>
              </a:solidFill>
              <a:latin typeface="Arial"/>
            </a:endParaRPr>
          </a:p>
        </p:txBody>
      </p:sp>
      <p:sp>
        <p:nvSpPr>
          <p:cNvPr id="172" name="Shape 5"/>
          <p:cNvSpPr/>
          <p:nvPr/>
        </p:nvSpPr>
        <p:spPr>
          <a:xfrm>
            <a:off x="812880" y="3281760"/>
            <a:ext cx="404640" cy="404640"/>
          </a:xfrm>
          <a:prstGeom prst="roundRect">
            <a:avLst>
              <a:gd name="adj" fmla="val 50000"/>
            </a:avLst>
          </a:prstGeom>
          <a:solidFill>
            <a:srgbClr val="0e8a8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chemeClr val="dk1"/>
              </a:solidFill>
              <a:latin typeface="Calibri"/>
            </a:endParaRPr>
          </a:p>
        </p:txBody>
      </p:sp>
      <p:sp>
        <p:nvSpPr>
          <p:cNvPr id="173" name="Text 6"/>
          <p:cNvSpPr/>
          <p:nvPr/>
        </p:nvSpPr>
        <p:spPr>
          <a:xfrm>
            <a:off x="937440" y="3351600"/>
            <a:ext cx="154800" cy="290160"/>
          </a:xfrm>
          <a:prstGeom prst="rect">
            <a:avLst/>
          </a:prstGeom>
          <a:noFill/>
          <a:ln w="0">
            <a:noFill/>
          </a:ln>
        </p:spPr>
        <p:style>
          <a:lnRef idx="0"/>
          <a:fillRef idx="0"/>
          <a:effectRef idx="0"/>
          <a:fontRef idx="minor"/>
        </p:style>
        <p:txBody>
          <a:bodyPr lIns="0" rIns="0" tIns="0" bIns="0" anchor="t">
            <a:normAutofit/>
          </a:bodyPr>
          <a:p>
            <a:pPr algn="ctr" defTabSz="914400">
              <a:lnSpc>
                <a:spcPts val="2100"/>
              </a:lnSpc>
              <a:tabLst>
                <a:tab algn="l" pos="0"/>
              </a:tabLst>
            </a:pPr>
            <a:r>
              <a:rPr b="1" lang="en-US" sz="1500" spc="-1" strike="noStrike">
                <a:solidFill>
                  <a:srgbClr val="faf9f5"/>
                </a:solidFill>
                <a:latin typeface="Arial"/>
                <a:ea typeface="Arial"/>
              </a:rPr>
              <a:t>2</a:t>
            </a:r>
            <a:endParaRPr b="0" lang="en-US" sz="1500" spc="-1" strike="noStrike">
              <a:solidFill>
                <a:srgbClr val="000000"/>
              </a:solidFill>
              <a:latin typeface="Arial"/>
            </a:endParaRPr>
          </a:p>
        </p:txBody>
      </p:sp>
      <p:sp>
        <p:nvSpPr>
          <p:cNvPr id="174" name="Text 7"/>
          <p:cNvSpPr/>
          <p:nvPr/>
        </p:nvSpPr>
        <p:spPr>
          <a:xfrm>
            <a:off x="1371600" y="3342600"/>
            <a:ext cx="9482040" cy="308160"/>
          </a:xfrm>
          <a:prstGeom prst="rect">
            <a:avLst/>
          </a:prstGeom>
          <a:noFill/>
          <a:ln w="0">
            <a:noFill/>
          </a:ln>
        </p:spPr>
        <p:style>
          <a:lnRef idx="0"/>
          <a:fillRef idx="0"/>
          <a:effectRef idx="0"/>
          <a:fontRef idx="minor"/>
        </p:style>
        <p:txBody>
          <a:bodyPr lIns="0" rIns="0" tIns="0" bIns="0" anchor="t">
            <a:normAutofit/>
          </a:bodyPr>
          <a:p>
            <a:pPr defTabSz="914400">
              <a:lnSpc>
                <a:spcPts val="2239"/>
              </a:lnSpc>
              <a:tabLst>
                <a:tab algn="l" pos="0"/>
              </a:tabLst>
            </a:pPr>
            <a:r>
              <a:rPr b="0" lang="en-US" sz="1600" spc="-1" strike="noStrike">
                <a:solidFill>
                  <a:srgbClr val="1e2430"/>
                </a:solidFill>
                <a:latin typeface="Arial"/>
                <a:ea typeface="Arial"/>
              </a:rPr>
              <a:t>Improve robustness across challenging viewing conditions</a:t>
            </a:r>
            <a:endParaRPr b="0" lang="en-US" sz="1600" spc="-1" strike="noStrike">
              <a:solidFill>
                <a:srgbClr val="000000"/>
              </a:solidFill>
              <a:latin typeface="Arial"/>
            </a:endParaRPr>
          </a:p>
        </p:txBody>
      </p:sp>
      <p:sp>
        <p:nvSpPr>
          <p:cNvPr id="175" name="Shape 8"/>
          <p:cNvSpPr/>
          <p:nvPr/>
        </p:nvSpPr>
        <p:spPr>
          <a:xfrm>
            <a:off x="812880" y="3972600"/>
            <a:ext cx="404640" cy="404640"/>
          </a:xfrm>
          <a:prstGeom prst="roundRect">
            <a:avLst>
              <a:gd name="adj" fmla="val 50000"/>
            </a:avLst>
          </a:prstGeom>
          <a:solidFill>
            <a:srgbClr val="0e8a8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chemeClr val="dk1"/>
              </a:solidFill>
              <a:latin typeface="Calibri"/>
            </a:endParaRPr>
          </a:p>
        </p:txBody>
      </p:sp>
      <p:sp>
        <p:nvSpPr>
          <p:cNvPr id="176" name="Text 9"/>
          <p:cNvSpPr/>
          <p:nvPr/>
        </p:nvSpPr>
        <p:spPr>
          <a:xfrm>
            <a:off x="937440" y="4042440"/>
            <a:ext cx="154800" cy="290160"/>
          </a:xfrm>
          <a:prstGeom prst="rect">
            <a:avLst/>
          </a:prstGeom>
          <a:noFill/>
          <a:ln w="0">
            <a:noFill/>
          </a:ln>
        </p:spPr>
        <p:style>
          <a:lnRef idx="0"/>
          <a:fillRef idx="0"/>
          <a:effectRef idx="0"/>
          <a:fontRef idx="minor"/>
        </p:style>
        <p:txBody>
          <a:bodyPr lIns="0" rIns="0" tIns="0" bIns="0" anchor="t">
            <a:normAutofit/>
          </a:bodyPr>
          <a:p>
            <a:pPr algn="ctr" defTabSz="914400">
              <a:lnSpc>
                <a:spcPts val="2100"/>
              </a:lnSpc>
              <a:tabLst>
                <a:tab algn="l" pos="0"/>
              </a:tabLst>
            </a:pPr>
            <a:r>
              <a:rPr b="1" lang="en-US" sz="1500" spc="-1" strike="noStrike">
                <a:solidFill>
                  <a:srgbClr val="faf9f5"/>
                </a:solidFill>
                <a:latin typeface="Arial"/>
                <a:ea typeface="Arial"/>
              </a:rPr>
              <a:t>3</a:t>
            </a:r>
            <a:endParaRPr b="0" lang="en-US" sz="1500" spc="-1" strike="noStrike">
              <a:solidFill>
                <a:srgbClr val="000000"/>
              </a:solidFill>
              <a:latin typeface="Arial"/>
            </a:endParaRPr>
          </a:p>
        </p:txBody>
      </p:sp>
      <p:sp>
        <p:nvSpPr>
          <p:cNvPr id="177" name="Text 10"/>
          <p:cNvSpPr/>
          <p:nvPr/>
        </p:nvSpPr>
        <p:spPr>
          <a:xfrm>
            <a:off x="1371600" y="3891240"/>
            <a:ext cx="9482040" cy="592560"/>
          </a:xfrm>
          <a:prstGeom prst="rect">
            <a:avLst/>
          </a:prstGeom>
          <a:noFill/>
          <a:ln w="0">
            <a:noFill/>
          </a:ln>
        </p:spPr>
        <p:style>
          <a:lnRef idx="0"/>
          <a:fillRef idx="0"/>
          <a:effectRef idx="0"/>
          <a:fontRef idx="minor"/>
        </p:style>
        <p:txBody>
          <a:bodyPr lIns="0" rIns="0" tIns="0" bIns="0" anchor="t">
            <a:normAutofit/>
          </a:bodyPr>
          <a:p>
            <a:pPr defTabSz="914400">
              <a:lnSpc>
                <a:spcPts val="2239"/>
              </a:lnSpc>
              <a:tabLst>
                <a:tab algn="l" pos="0"/>
              </a:tabLst>
            </a:pPr>
            <a:r>
              <a:rPr b="0" lang="en-US" sz="1600" spc="-1" strike="noStrike">
                <a:solidFill>
                  <a:srgbClr val="1e2430"/>
                </a:solidFill>
                <a:latin typeface="Arial"/>
                <a:ea typeface="Arial"/>
              </a:rPr>
              <a:t>Collect and annotate more recordings from this exact setup, to fine-tune the model on its real conditions</a:t>
            </a:r>
            <a:endParaRPr b="0" lang="en-US" sz="1600" spc="-1" strike="noStrike">
              <a:solidFill>
                <a:srgbClr val="000000"/>
              </a:solidFill>
              <a:latin typeface="Arial"/>
            </a:endParaRPr>
          </a:p>
        </p:txBody>
      </p:sp>
      <p:sp>
        <p:nvSpPr>
          <p:cNvPr id="178" name="Shape 11"/>
          <p:cNvSpPr/>
          <p:nvPr/>
        </p:nvSpPr>
        <p:spPr>
          <a:xfrm>
            <a:off x="812880" y="4744800"/>
            <a:ext cx="404640" cy="404640"/>
          </a:xfrm>
          <a:prstGeom prst="roundRect">
            <a:avLst>
              <a:gd name="adj" fmla="val 50000"/>
            </a:avLst>
          </a:prstGeom>
          <a:solidFill>
            <a:srgbClr val="0e8a8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chemeClr val="dk1"/>
              </a:solidFill>
              <a:latin typeface="Calibri"/>
            </a:endParaRPr>
          </a:p>
        </p:txBody>
      </p:sp>
      <p:sp>
        <p:nvSpPr>
          <p:cNvPr id="179" name="Text 12"/>
          <p:cNvSpPr/>
          <p:nvPr/>
        </p:nvSpPr>
        <p:spPr>
          <a:xfrm>
            <a:off x="937440" y="4814640"/>
            <a:ext cx="154800" cy="290160"/>
          </a:xfrm>
          <a:prstGeom prst="rect">
            <a:avLst/>
          </a:prstGeom>
          <a:noFill/>
          <a:ln w="0">
            <a:noFill/>
          </a:ln>
        </p:spPr>
        <p:style>
          <a:lnRef idx="0"/>
          <a:fillRef idx="0"/>
          <a:effectRef idx="0"/>
          <a:fontRef idx="minor"/>
        </p:style>
        <p:txBody>
          <a:bodyPr lIns="0" rIns="0" tIns="0" bIns="0" anchor="t">
            <a:normAutofit/>
          </a:bodyPr>
          <a:p>
            <a:pPr algn="ctr" defTabSz="914400">
              <a:lnSpc>
                <a:spcPts val="2100"/>
              </a:lnSpc>
              <a:tabLst>
                <a:tab algn="l" pos="0"/>
              </a:tabLst>
            </a:pPr>
            <a:r>
              <a:rPr b="1" lang="en-US" sz="1500" spc="-1" strike="noStrike">
                <a:solidFill>
                  <a:srgbClr val="faf9f5"/>
                </a:solidFill>
                <a:latin typeface="Arial"/>
                <a:ea typeface="Arial"/>
              </a:rPr>
              <a:t>4</a:t>
            </a:r>
            <a:endParaRPr b="0" lang="en-US" sz="1500" spc="-1" strike="noStrike">
              <a:solidFill>
                <a:srgbClr val="000000"/>
              </a:solidFill>
              <a:latin typeface="Arial"/>
            </a:endParaRPr>
          </a:p>
        </p:txBody>
      </p:sp>
      <p:sp>
        <p:nvSpPr>
          <p:cNvPr id="180" name="Text 13"/>
          <p:cNvSpPr/>
          <p:nvPr/>
        </p:nvSpPr>
        <p:spPr>
          <a:xfrm>
            <a:off x="1371600" y="4663440"/>
            <a:ext cx="9482040" cy="592560"/>
          </a:xfrm>
          <a:prstGeom prst="rect">
            <a:avLst/>
          </a:prstGeom>
          <a:noFill/>
          <a:ln w="0">
            <a:noFill/>
          </a:ln>
        </p:spPr>
        <p:style>
          <a:lnRef idx="0"/>
          <a:fillRef idx="0"/>
          <a:effectRef idx="0"/>
          <a:fontRef idx="minor"/>
        </p:style>
        <p:txBody>
          <a:bodyPr lIns="0" rIns="0" tIns="0" bIns="0" anchor="t">
            <a:normAutofit/>
          </a:bodyPr>
          <a:p>
            <a:pPr defTabSz="914400">
              <a:lnSpc>
                <a:spcPts val="2239"/>
              </a:lnSpc>
              <a:tabLst>
                <a:tab algn="l" pos="0"/>
              </a:tabLst>
            </a:pPr>
            <a:r>
              <a:rPr b="0" lang="en-US" sz="1600" spc="-1" strike="noStrike">
                <a:solidFill>
                  <a:srgbClr val="1e2430"/>
                </a:solidFill>
                <a:latin typeface="Arial"/>
                <a:ea typeface="Arial"/>
              </a:rPr>
              <a:t>Prototype the abnormality-visualization interface — map an external per-tooth result onto a tracked tooth ID</a:t>
            </a:r>
            <a:endParaRPr b="0" lang="en-US" sz="1600" spc="-1" strike="noStrike">
              <a:solidFill>
                <a:srgbClr val="000000"/>
              </a:solidFill>
              <a:latin typeface="Arial"/>
            </a:endParaRPr>
          </a:p>
        </p:txBody>
      </p:sp>
      <p:sp>
        <p:nvSpPr>
          <p:cNvPr id="181" name="Shape 14"/>
          <p:cNvSpPr/>
          <p:nvPr/>
        </p:nvSpPr>
        <p:spPr>
          <a:xfrm>
            <a:off x="812880" y="5435640"/>
            <a:ext cx="404640" cy="404640"/>
          </a:xfrm>
          <a:prstGeom prst="roundRect">
            <a:avLst>
              <a:gd name="adj" fmla="val 50000"/>
            </a:avLst>
          </a:prstGeom>
          <a:solidFill>
            <a:srgbClr val="0e8a8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chemeClr val="dk1"/>
              </a:solidFill>
              <a:latin typeface="Calibri"/>
            </a:endParaRPr>
          </a:p>
        </p:txBody>
      </p:sp>
      <p:sp>
        <p:nvSpPr>
          <p:cNvPr id="182" name="Text 15"/>
          <p:cNvSpPr/>
          <p:nvPr/>
        </p:nvSpPr>
        <p:spPr>
          <a:xfrm>
            <a:off x="937440" y="5505480"/>
            <a:ext cx="154800" cy="290160"/>
          </a:xfrm>
          <a:prstGeom prst="rect">
            <a:avLst/>
          </a:prstGeom>
          <a:noFill/>
          <a:ln w="0">
            <a:noFill/>
          </a:ln>
        </p:spPr>
        <p:style>
          <a:lnRef idx="0"/>
          <a:fillRef idx="0"/>
          <a:effectRef idx="0"/>
          <a:fontRef idx="minor"/>
        </p:style>
        <p:txBody>
          <a:bodyPr lIns="0" rIns="0" tIns="0" bIns="0" anchor="t">
            <a:normAutofit/>
          </a:bodyPr>
          <a:p>
            <a:pPr algn="ctr" defTabSz="914400">
              <a:lnSpc>
                <a:spcPts val="2100"/>
              </a:lnSpc>
              <a:tabLst>
                <a:tab algn="l" pos="0"/>
              </a:tabLst>
            </a:pPr>
            <a:r>
              <a:rPr b="1" lang="en-US" sz="1500" spc="-1" strike="noStrike">
                <a:solidFill>
                  <a:srgbClr val="faf9f5"/>
                </a:solidFill>
                <a:latin typeface="Arial"/>
                <a:ea typeface="Arial"/>
              </a:rPr>
              <a:t>5</a:t>
            </a:r>
            <a:endParaRPr b="0" lang="en-US" sz="1500" spc="-1" strike="noStrike">
              <a:solidFill>
                <a:srgbClr val="000000"/>
              </a:solidFill>
              <a:latin typeface="Arial"/>
            </a:endParaRPr>
          </a:p>
        </p:txBody>
      </p:sp>
      <p:sp>
        <p:nvSpPr>
          <p:cNvPr id="183" name="Text 16"/>
          <p:cNvSpPr/>
          <p:nvPr/>
        </p:nvSpPr>
        <p:spPr>
          <a:xfrm>
            <a:off x="1371600" y="5496480"/>
            <a:ext cx="9482040" cy="308160"/>
          </a:xfrm>
          <a:prstGeom prst="rect">
            <a:avLst/>
          </a:prstGeom>
          <a:noFill/>
          <a:ln w="0">
            <a:noFill/>
          </a:ln>
        </p:spPr>
        <p:style>
          <a:lnRef idx="0"/>
          <a:fillRef idx="0"/>
          <a:effectRef idx="0"/>
          <a:fontRef idx="minor"/>
        </p:style>
        <p:txBody>
          <a:bodyPr lIns="0" rIns="0" tIns="0" bIns="0" anchor="t">
            <a:normAutofit/>
          </a:bodyPr>
          <a:p>
            <a:pPr defTabSz="914400">
              <a:lnSpc>
                <a:spcPts val="2239"/>
              </a:lnSpc>
              <a:tabLst>
                <a:tab algn="l" pos="0"/>
              </a:tabLst>
            </a:pPr>
            <a:r>
              <a:rPr b="0" lang="en-US" sz="1600" spc="-1" strike="noStrike">
                <a:solidFill>
                  <a:srgbClr val="1e2430"/>
                </a:solidFill>
                <a:latin typeface="Arial"/>
                <a:ea typeface="Arial"/>
              </a:rPr>
              <a:t>Final documentation, evaluation report, and user testing</a:t>
            </a:r>
            <a:endParaRPr b="0" lang="en-US" sz="1600" spc="-1" strike="noStrike">
              <a:solidFill>
                <a:srgbClr val="000000"/>
              </a:solidFill>
              <a:latin typeface="Arial"/>
            </a:endParaRPr>
          </a:p>
        </p:txBody>
      </p:sp>
      <p:sp>
        <p:nvSpPr>
          <p:cNvPr id="184" name="Text 17"/>
          <p:cNvSpPr/>
          <p:nvPr/>
        </p:nvSpPr>
        <p:spPr>
          <a:xfrm>
            <a:off x="812880" y="6238080"/>
            <a:ext cx="4645800" cy="236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1" strike="noStrike">
                <a:solidFill>
                  <a:srgbClr val="4a5568"/>
                </a:solidFill>
                <a:latin typeface="Arial"/>
                <a:ea typeface="Arial"/>
              </a:rPr>
              <a:t>AR Based Dental Imaging and Abnormality Visualization · COD492</a:t>
            </a:r>
            <a:endParaRPr b="0" lang="en-US" sz="1200" spc="-1" strike="noStrike">
              <a:solidFill>
                <a:srgbClr val="000000"/>
              </a:solidFill>
              <a:latin typeface="Arial"/>
            </a:endParaRPr>
          </a:p>
        </p:txBody>
      </p:sp>
      <p:sp>
        <p:nvSpPr>
          <p:cNvPr id="185" name="Text 18"/>
          <p:cNvSpPr/>
          <p:nvPr/>
        </p:nvSpPr>
        <p:spPr>
          <a:xfrm>
            <a:off x="10913040" y="6238080"/>
            <a:ext cx="515160" cy="236880"/>
          </a:xfrm>
          <a:prstGeom prst="rect">
            <a:avLst/>
          </a:prstGeom>
          <a:noFill/>
          <a:ln w="0">
            <a:noFill/>
          </a:ln>
        </p:spPr>
        <p:style>
          <a:lnRef idx="0"/>
          <a:fillRef idx="0"/>
          <a:effectRef idx="0"/>
          <a:fontRef idx="minor"/>
        </p:style>
        <p:txBody>
          <a:bodyPr lIns="0" rIns="0" tIns="0" bIns="0" anchor="t">
            <a:normAutofit fontScale="50000"/>
          </a:bodyPr>
          <a:p>
            <a:pPr defTabSz="914400">
              <a:lnSpc>
                <a:spcPts val="1681"/>
              </a:lnSpc>
              <a:tabLst>
                <a:tab algn="l" pos="0"/>
              </a:tabLst>
            </a:pPr>
            <a:r>
              <a:rPr b="0" lang="en-US" sz="1800" spc="-1" strike="noStrike">
                <a:solidFill>
                  <a:schemeClr val="dk1"/>
                </a:solidFill>
                <a:latin typeface="Calibri"/>
              </a:rPr>
              <a:t>11 / 11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2026-09-24T17:39:25Z</dcterms:created>
  <dc:creator>PptxGenJS</dc:creator>
  <dc:description/>
  <dc:language>en-US</dc:language>
  <cp:lastModifiedBy/>
  <dcterms:modified xsi:type="dcterms:W3CDTF">2026-09-25T10:48:46Z</dcterms:modified>
  <cp:revision>6</cp:revision>
  <dc:subject>PptxGenJS Presentation</dc:subject>
  <dc:title>AR Dental Imaging — Progress Review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